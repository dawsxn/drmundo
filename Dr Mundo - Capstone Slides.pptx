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hook: 'Dr. Mundo answers, in plain English or Taglish, what a medical procedure costs in the Philippines — and it never invents a number.' Introduce the three members. ~20s.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= the five sections; the breadcrumb on every slide maps here. Point at the work split so ownership is clear upfront. ~25s.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stakes: nearly half of health spending is out-of-pocket, and it's growing. The coping numbers make it human. Land on the target user: someone who can't predict the bill. ~50s.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top to bottom: each alternative fails at least one column. ChatGPT hallucinates; price lists aren't personalized; a form can't do Taglish or the ceiling logic. Dr. Mundo is the only all-Yes row. This pre-empts 'why not a form + SQL?'. ~55s.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the gap to our answer. Left: why a lookup can't do it (fragmentation). Right: the four agentic steps. Close on the four differentiators — this is our value prop and the handoff into Architecture. ~55s.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slide: walk the pipeline once, name the two paths, show the data model (only 10 covered procedures are actually priced), and the stack. ~55s.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is deliberately simple: a 20-turn FIFO buffer, in-session only, redacted text. The screenshot shows a follow-up carrying context. Note privacy: health questions never touch disk.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Guardrails are the safety story: input filters scope + PII; output guarantees grounded numbers + disclaimer; memory keeps only redacted text. The output-guard screenshot is the proof.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slide covers four modules: RAG (search + SQL), ReAct (the loop), Disambiguation (ask_user), Structured Outputs (Pydantic tool args). The trace screenshot shows it acting step by step. Say: the model picks tools and args; the DB provides numbers; no text-to-SQL. ~55s.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Switch to the app: ask one covered question, show the grounded answer appears. Keep it under a minute. If it fails, note the fallback recording. Then return to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Engineering counts only when evaluated — this ablation is the evidence. v2 is the pick. Note the v3 over-clarify trade-off. Clarification at ~50% is our weakest metric — flag it honestly as future work (see Retrospective). ~50s.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LLMOps proof: every request is an MLflow run. The table shows real logged numbers; the screenshot is the dashboard. Emphasize the wrapper never changes answers — monitoring is additive.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close: grounding is the win; clarification and catalog breadth are the real limits; next steps are concrete. Parallel three-column structure. ~35s.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value prop; open Q&amp;A. Each member fields their own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matter — real sources for every business statistic, plus tools and data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slides for Q&amp;A — pull up if the panel asks the form-vs-agent or scalability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548640"/>
            <a:ext cx="2377440" cy="237744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745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agentic cost estimator for Philippine healthcare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Agentic AI (STAI100)  ·  Midterm 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A] · [Member B] · [Member C]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github.com/Dawsxn/DrMundo</a:t>
            </a:r>
            <a:pPr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Week 9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who did what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184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5636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928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the users, and why an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38658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15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memory, guardrails, retrieval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0954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5387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app, end to 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8736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03250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3616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ablation and LLMOps monitoring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103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8554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1846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and what is next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141732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work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783080"/>
          <a:ext cx="464789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95625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owned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[Member A]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Brain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· ReAct · Structured Outputs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[Member B]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&amp; Understanding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· Disambiguation ·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[Member C]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 · LLMOps · API · Chat UI · Docker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040880" y="5257800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member owns and can explain at least two modules end to end.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PH health spending is out-of-pocket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783080"/>
            <a:ext cx="35152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₱615B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9224" y="2441448"/>
            <a:ext cx="3222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 health spending in 2024 (+11.8% year on year)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38218" y="1783080"/>
            <a:ext cx="35152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~40–50%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484522" y="2441448"/>
            <a:ext cx="3222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health spending is paid directly by households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73517" y="160020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73517" y="1783080"/>
            <a:ext cx="35152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+150%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8319821" y="2441448"/>
            <a:ext cx="3222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growth in out-of-pocket spending, 2000–2012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5623560" cy="2194560"/>
          </a:xfrm>
          <a:prstGeom prst="roundRect">
            <a:avLst>
              <a:gd name="adj" fmla="val 3750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" y="3429000"/>
            <a:ext cx="522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6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families cope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" y="3822192"/>
            <a:ext cx="52029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cheaper or alternative treatment — 61.0%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money to pay for care — 39.5%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down existing savings — 29.0%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91840"/>
            <a:ext cx="5242255" cy="2194560"/>
          </a:xfrm>
          <a:prstGeom prst="roundRect">
            <a:avLst>
              <a:gd name="adj" fmla="val 3750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47688" y="3429000"/>
            <a:ext cx="48399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65976" y="3822192"/>
            <a:ext cx="4821631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families in financial distress,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a procedure they cannot budget for,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cannot answer: how much will it cost,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much will PhilHealth cover?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56235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National out-of-pocket burden and the coping behaviors it forces on households — the human stakes that motivate a grounded cost estimator.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Sources: p4h.world (2024) · Health Policy Plus · Health Policy &amp; Planning · PMC — see References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answer this today — and why it falls short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585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57400"/>
                <a:gridCol w="2057400"/>
                <a:gridCol w="2148840"/>
                <a:gridCol w="181325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numbers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PhilHealth OOP math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Taglish / conversational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Hospital-specific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hospitals / HMO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price lists / brochures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46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46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chatbot (ChatGPT)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web form + SQL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46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5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75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Mundo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50749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Existing ways a patient tries to estimate a bill, scored on the four capabilities that matter — none combine all four, which is the gap Dr. Mundo fills.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02920" y="557784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" y="5577840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pPr algn="ctr" indent="0" marL="0">
              <a:buNone/>
            </a:pPr>
            <a:r>
              <a:rPr lang="en-US" sz="12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option is grounded, PhilHealth-aware, conversational, and hospital-specific at once.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needs an agent — and how Dr. Mundo differs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623560" cy="2788920"/>
          </a:xfrm>
          <a:prstGeom prst="roundRect">
            <a:avLst>
              <a:gd name="adj" fmla="val 2951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783080"/>
            <a:ext cx="522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6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lookup is not enough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2176272"/>
            <a:ext cx="520293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 is fee-for-service with separate ceilings: room, medicines, X-ray / labs, OR, and doctor's fees.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ceiling is set by disease severity and hospital level.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 incidence varies widely — 73% at private vs 52% at public facilities.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intersecting variables for a static form or SQL join to estimate.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55080" y="1691640"/>
            <a:ext cx="5333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Dr. Mundo does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95160" y="20574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specific procedure or service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724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2679192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real hospital prices from the 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3467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3300984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PhilHealth case-rate / out-of-pocket 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9684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3922776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grounded estimate, with a disclaimer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663440"/>
            <a:ext cx="5455768" cy="457200"/>
          </a:xfrm>
          <a:prstGeom prst="roundRect">
            <a:avLst>
              <a:gd name="adj" fmla="val 16000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4663440"/>
            <a:ext cx="530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— no invented numbers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3008" y="4663440"/>
            <a:ext cx="5455768" cy="457200"/>
          </a:xfrm>
          <a:prstGeom prst="roundRect">
            <a:avLst>
              <a:gd name="adj" fmla="val 16000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6160" y="4663440"/>
            <a:ext cx="530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PhilHealth-aware — case rate + OOP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230368"/>
            <a:ext cx="5455768" cy="457200"/>
          </a:xfrm>
          <a:prstGeom prst="roundRect">
            <a:avLst>
              <a:gd name="adj" fmla="val 16000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5230368"/>
            <a:ext cx="530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Taglish &amp; conversational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33008" y="5230368"/>
            <a:ext cx="5455768" cy="457200"/>
          </a:xfrm>
          <a:prstGeom prst="roundRect">
            <a:avLst>
              <a:gd name="adj" fmla="val 16000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6160" y="5230368"/>
            <a:ext cx="530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— multi-step, asks when unsure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59436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fragmented, multi-variable nature of a Philippine hospital bill is exactly what makes an agentic, grounded approach necessary rather than a static lookup.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Sources: Health Policy &amp; Planning · Health Policy Plus · PIDS — see References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1572768" cy="822960"/>
          </a:xfrm>
          <a:prstGeom prst="roundRect">
            <a:avLst>
              <a:gd name="adj" fmla="val 10000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150876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93976" y="1508760"/>
            <a:ext cx="310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404872" y="1508760"/>
            <a:ext cx="1572768" cy="822960"/>
          </a:xfrm>
          <a:prstGeom prst="roundRect">
            <a:avLst>
              <a:gd name="adj" fmla="val 10000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32304" y="150876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95928" y="1508760"/>
            <a:ext cx="310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1572768" cy="822960"/>
          </a:xfrm>
          <a:prstGeom prst="roundRect">
            <a:avLst>
              <a:gd name="adj" fmla="val 10000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34256" y="150876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topic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1508760"/>
            <a:ext cx="310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08776" y="1508760"/>
            <a:ext cx="1572768" cy="8229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50876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99832" y="1508760"/>
            <a:ext cx="310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110728" y="1508760"/>
            <a:ext cx="1572768" cy="822960"/>
          </a:xfrm>
          <a:prstGeom prst="roundRect">
            <a:avLst>
              <a:gd name="adj" fmla="val 10000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38160" y="150876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01784" y="1508760"/>
            <a:ext cx="310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0012680" y="1508760"/>
            <a:ext cx="1572768" cy="82296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40112" y="150876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39572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request pipeline — the LLM orchestrates tools inside the ReAct loop, and the output guard is the final gate; numbers come from the database, not the model.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063240"/>
            <a:ext cx="5623560" cy="1417320"/>
          </a:xfrm>
          <a:prstGeom prst="roundRect">
            <a:avLst>
              <a:gd name="adj" fmla="val 5806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" y="3200400"/>
            <a:ext cx="522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routing paths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" y="3593592"/>
            <a:ext cx="52029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covered procedure: price range + PhilHealth case rate + out-of-pocket.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outpatient service: price range only, never covered / no OOP.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063240"/>
          <a:ext cx="533369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640080"/>
                <a:gridCol w="2453335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philhealth_procedure_rates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rates (Annex 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hospital_procedure_prices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A prices (10 priced)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hospital_prices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B: 47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355080" y="4663440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Four-table SQLite model built from committed CSVs at load time.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52578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" y="5257800"/>
            <a:ext cx="110395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pPr algn="ctr" indent="0" marL="0"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Streamlit · SQLite + NumPy · Pydantic · OpenAI (gpt-4o-mini + embeddings) · MLflow · Docker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short-term conversation buffer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78308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2176272"/>
            <a:ext cx="483717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conversation buffer — raw user/assistant text turns.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window trimming (FIFO) with a 20-turn limit; the oldest turn is evicted when exceeded.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kept in-session only, never written to disk.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stores PII-redacted text only.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cost lookups have shallow conversational depth, so a 20-turn buffer is enough; in-session-only fits sensitive health data.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645920"/>
            <a:ext cx="5562295" cy="3931920"/>
          </a:xfrm>
          <a:prstGeom prst="roundRect">
            <a:avLst>
              <a:gd name="adj" fmla="val 1395"/>
            </a:avLst>
          </a:prstGeom>
          <a:solidFill>
            <a:srgbClr val="F0F6F7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355080" y="1645920"/>
            <a:ext cx="51050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conversation: “How much is X at Y hospital?” → “How about at Z?” (context carried across turns)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6928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short-term FIFO buffer lets follow-up questions reuse context (e.g. switching hospitals) without repeating details, while keeping nothing on disk.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input, output, and memory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78308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2176272"/>
            <a:ext cx="48371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redaction: email, phone, PhilHealth ID, card numbers.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classify: cost (allow) · medical_advice (refuse) · out_of_scope (refuse).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329184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" y="3685032"/>
            <a:ext cx="48371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check: every ₱ amount verified against the DB, else the prose is rebuilt from grounded fields.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Not-covered note added for outpatient answers; disclaimer enforced on every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93776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507492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6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" y="5468112"/>
            <a:ext cx="483717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redacted text only — raw PII is never persisted.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5562295" cy="3977640"/>
          </a:xfrm>
          <a:prstGeom prst="roundRect">
            <a:avLst>
              <a:gd name="adj" fmla="val 1379"/>
            </a:avLst>
          </a:prstGeom>
          <a:solidFill>
            <a:srgbClr val="F0F6F7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355080" y="1645920"/>
            <a:ext cx="510509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 in action: a grounded answer with the “not covered by PhilHealth” note and the disclaimer (or a refused medical-advice query)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Two-sided guardrails bracket the agent — the input guard filters scope and PII, and the output guard guarantees every figure is grounded before it reaches the user.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+ parameterized SQL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78308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2176272"/>
            <a:ext cx="4837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 → repeat (max 5 iterations).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 which tool to call from each observation.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search_catalog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procedure or service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get_covered_cost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rate + price range + OOP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get_outpatient_cost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only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list_hospitals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hospitals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ask_user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clarifying question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5074920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EAF7F8"/>
          </a:solidFill>
          <a:ln w="12700">
            <a:solidFill>
              <a:srgbClr val="CDE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5074920"/>
            <a:ext cx="511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args → validate → catch → re-prompt:  </a:t>
            </a:r>
            <a:pPr algn="ctr" indent="0" marL="0">
              <a:buNone/>
            </a:pPr>
            <a:r>
              <a:rPr lang="en-US" sz="10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arguments self-correct.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562295" cy="3977640"/>
          </a:xfrm>
          <a:prstGeom prst="roundRect">
            <a:avLst>
              <a:gd name="adj" fmla="val 1379"/>
            </a:avLst>
          </a:prstGeom>
          <a:solidFill>
            <a:srgbClr val="F0F6F7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355080" y="1645920"/>
            <a:ext cx="510509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trace: search_catalog → get_covered_cost → grounded answer (Thought / Action / Observation per step)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Retrieval is semantic search over the catalog feeding pre-written parameterized SQL — RAG without a document store — driven by the ReAct loop with typed, validated tool calls.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proof it runs, end to end.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 ·  API at localhost:8000/docs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a measured ablation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4709160" cy="3246120"/>
          </a:xfrm>
          <a:prstGeom prst="roundRect">
            <a:avLst>
              <a:gd name="adj" fmla="val 2535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783080"/>
            <a:ext cx="4306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2176272"/>
            <a:ext cx="428853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database-grounded cases across 4 buckets: covered, outpatient, ambiguous, out-of-scope.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through the service (not HTTP) — a plain, repeatable script.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Scored: match, routing, coverage/OOP, refusal, clarification, latency, cost.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44 offline unit tests (no network).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45920"/>
          <a:ext cx="620237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77240"/>
                <a:gridCol w="777240"/>
                <a:gridCol w="1005840"/>
                <a:gridCol w="868680"/>
                <a:gridCol w="12188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Cov/OOP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3657600"/>
            <a:ext cx="6202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ablation across three system-prompt variants; v2 is the best-balanced choice and our production default.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0" y="4160520"/>
            <a:ext cx="6202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wins on balance — top routing and coverage/OOP at the lowest cost. v3 clarifies more but over-clarifies clear queries (routing drops to 92%).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LLMOps: one MLflow run per request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78308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2176272"/>
            <a:ext cx="48371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token usage, and estimated cost per request.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tool-call trace and the prompt version.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grounding status.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client wrapper — observes without altering answers.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69080"/>
          <a:ext cx="52578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960120"/>
                <a:gridCol w="914400"/>
                <a:gridCol w="9601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(appendectomy)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Outpatient (CT contrast)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 (medical advice)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E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645920"/>
            <a:ext cx="5562295" cy="3977640"/>
          </a:xfrm>
          <a:prstGeom prst="roundRect">
            <a:avLst>
              <a:gd name="adj" fmla="val 1379"/>
            </a:avLst>
          </a:prstGeom>
          <a:solidFill>
            <a:srgbClr val="F0F6F7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355080" y="1645920"/>
            <a:ext cx="510509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7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UI: one run per /ask with latency, tokens, cost, and the tool trace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553212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5:</a:t>
            </a:r>
            <a:pPr algn="l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Representative per-request metrics logged to MLflow — cost scales with tool use; refusals are near-free.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and what is next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3484778" cy="3566160"/>
          </a:xfrm>
          <a:prstGeom prst="roundRect">
            <a:avLst>
              <a:gd name="adj" fmla="val 2362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828800"/>
            <a:ext cx="3082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2221992"/>
            <a:ext cx="306415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grounding — auditable numbers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Taglish retrieval — 100% routing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Eval-driven prompt choice (v2)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53458" y="1691640"/>
            <a:ext cx="3484778" cy="3566160"/>
          </a:xfrm>
          <a:prstGeom prst="roundRect">
            <a:avLst>
              <a:gd name="adj" fmla="val 2362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54626" y="1828800"/>
            <a:ext cx="3082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6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914" y="2221992"/>
            <a:ext cx="306415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on vague queries is the weak spot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covered procedures are priced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dataset of 5 hospitals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03997" y="1691640"/>
            <a:ext cx="3484778" cy="3566160"/>
          </a:xfrm>
          <a:prstGeom prst="roundRect">
            <a:avLst>
              <a:gd name="adj" fmla="val 2362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05165" y="1828800"/>
            <a:ext cx="3082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23453" y="2221992"/>
            <a:ext cx="306415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the priced catalog and hospitals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disambiguation for vague inputs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model upgrade (then re-run eval)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Findings</a:t>
            </a:r>
            <a:pPr algn="l" indent="0" marL="0">
              <a:buNone/>
            </a:pPr>
            <a:r>
              <a:rPr lang="en-US" sz="1050" dirty="0">
                <a:solidFill>
                  <a:srgbClr val="9B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Taglish-capable cost estimates — auditable by construction.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  ·  web UI + REST API  ·  MLflow  ·  Docker  ·  evaluated prompts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4114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github.com/Dawsxn/DrMundo</a:t>
            </a:r>
            <a:pPr indent="0" marL="0">
              <a:buNone/>
            </a:pPr>
            <a:r>
              <a:rPr lang="en-US" sz="1300" dirty="0">
                <a:solidFill>
                  <a:srgbClr val="CF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[Member A] · [Member B] · [Member C]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 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600200"/>
            <a:ext cx="111858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Philippine News Agency — out-of-pocket = 41.2% of current health expenditure. pna.gov.ph/articles/1277532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P4H — 2024 OOP health spending exceeded ₱615B (+11.8%). p4h.world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Health Policy Plus — majority of medical expenses paid OOP; OOP incidence 73% private vs 52% public. healthpolicyplus.com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Health Policy &amp; Planning — OOP rose 150% (real), 2000–2012; fee-for-service benefit ceilings. academic.oup.com/heapol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PIDS — PhilHealth effective coverage 40–50% vs 70–80% target; case rates largely unchanged. pids.gov.ph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PMC — coping: cheaper care 61%, borrowing 39.5%, savings 29%; NCD medicines 59.41% of health spend. pmc.ncbi.nlm.nih.gov/articles/PMC12631051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BMC Pulmonary Medicine — insufficient COPD in-patient coverage under case rates. link.springer.com/article/10.1186/s12890-024-03011-y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Tools &amp; data: PhilHealth Annex B (case rates) · project hospital dataset · OpenAI gpt-4o-mini + text-embedding-3-small · FastAPI · Streamlit · Pydantic · SQLite · MLflow · Docker.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Case-rate figures are from PhilHealth’s published Annex B; hospital price ranges are a curated academic dataset and are indicative, not official quotes.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anticipated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11185855" cy="1828800"/>
          </a:xfrm>
          <a:prstGeom prst="roundRect">
            <a:avLst>
              <a:gd name="adj" fmla="val 4500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783080"/>
            <a:ext cx="10783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not just an HTML form + SQL join?”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2376" y="2176272"/>
            <a:ext cx="10765231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 depends on many intersecting variables (fee-for-service ceilings by severity and hospital level), and users ask in vague Taglish.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handles free-text intent, disambiguation, and the layered PhilHealth logic — then grounds every number in SQL. A static form can do none of the first three.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3657600"/>
            <a:ext cx="11185855" cy="1965960"/>
          </a:xfrm>
          <a:prstGeom prst="roundRect">
            <a:avLst>
              <a:gd name="adj" fmla="val 4186"/>
            </a:avLst>
          </a:prstGeom>
          <a:solidFill>
            <a:srgbClr val="F4FBFC"/>
          </a:solidFill>
          <a:ln w="12700">
            <a:solidFill>
              <a:srgbClr val="CDE7EA"/>
            </a:solidFill>
            <a:prstDash val="solid"/>
          </a:ln>
          <a:effectLst>
            <a:outerShdw sx="100000" sy="100000" kx="0" ky="0" algn="bl" rotWithShape="0" blurRad="88900" dist="25400" dir="5400000">
              <a:srgbClr val="0E3A4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3794760"/>
            <a:ext cx="10783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it hallucinate if the DB grows from 5 to 100 hospitals?”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" y="4187952"/>
            <a:ext cx="10765231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numbers come from parameterized SQL over rows, not the model; the model only selects which rows to fetch.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guard verifies every ₱ figure against retrieved values regardless of DB size; retrieval scales via embeddings + SQL indexes.</a:t>
            </a:r>
            <a:endParaRPr lang="en-US" sz="1150" dirty="0"/>
          </a:p>
          <a:p>
            <a:pPr algn="l"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is size-independent — more data means broader coverage, not more hallucination.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</a:t>
            </a:r>
            <a:pPr algn="l" indent="0" marL="0">
              <a:buNone/>
            </a:pPr>
            <a:r>
              <a:rPr lang="en-US" sz="8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github.com/Dawsxn/DrMundo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4013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Mundo — Midterm Capstone</dc:title>
  <dc:subject>PptxGenJS Presentation</dc:subject>
  <dc:creator>Dr. Mundo Team</dc:creator>
  <cp:lastModifiedBy>Dr. Mundo Team</cp:lastModifiedBy>
  <cp:revision>1</cp:revision>
  <dcterms:created xsi:type="dcterms:W3CDTF">2026-07-08T13:04:04Z</dcterms:created>
  <dcterms:modified xsi:type="dcterms:W3CDTF">2026-07-08T13:04:04Z</dcterms:modified>
</cp:coreProperties>
</file>