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 reason + act. The model calls a tool, reads the observation, and decides the next step, up to 5 times. Point at the trace screenshot. Emphasize the three exits and that routing is model-driven, not hard-coded.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Outputs shows up twice: (1) the LLM's tool-call arguments are Pydantic-validated with re-prompting on failure; (2) the final Answer is a typed object whose numbers are filled from tool results. The breakdown panel is that object rendered.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Engineering counts as a module only when evaluated. Show the four sample cases (one per bucket) so graders see what 'a case' is, then the ablation that picked v2. Note v2 is the production default. Renumber Table 4/5 when merging into the full deck. ~50s.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03504"/>
            <a:ext cx="11185855" cy="603504"/>
          </a:xfrm>
          <a:prstGeom prst="rect">
            <a:avLst/>
          </a:prstGeom>
          <a:noFill/>
          <a:ln/>
        </p:spPr>
        <p:txBody>
          <a:bodyPr wrap="square" lIns="0" tIns="0" rIns="0" bIns="0" rtlCol="0" anchor="ctr"/>
          <a:lstStyle/>
          <a:p>
            <a:pPr algn="l" indent="0" marL="0">
              <a:buNone/>
            </a:pPr>
            <a:r>
              <a:rPr lang="en-US" sz="2600" b="1" dirty="0">
                <a:solidFill>
                  <a:srgbClr val="0E3A42"/>
                </a:solidFill>
                <a:latin typeface="Calibri" pitchFamily="34" charset="0"/>
                <a:ea typeface="Calibri" pitchFamily="34" charset="-122"/>
                <a:cs typeface="Calibri" pitchFamily="34" charset="-120"/>
              </a:rPr>
              <a:t>ReAct: the reason–act–observe loop</a:t>
            </a:r>
            <a:endParaRPr lang="en-US" sz="2600" dirty="0"/>
          </a:p>
        </p:txBody>
      </p:sp>
      <p:sp>
        <p:nvSpPr>
          <p:cNvPr id="3" name="Shape 1"/>
          <p:cNvSpPr/>
          <p:nvPr/>
        </p:nvSpPr>
        <p:spPr>
          <a:xfrm>
            <a:off x="502920" y="1554480"/>
            <a:ext cx="5532120" cy="1600200"/>
          </a:xfrm>
          <a:prstGeom prst="roundRect">
            <a:avLst>
              <a:gd name="adj" fmla="val 5143"/>
            </a:avLst>
          </a:prstGeom>
          <a:solidFill>
            <a:srgbClr val="F4FBFC"/>
          </a:solidFill>
          <a:ln w="12700">
            <a:solidFill>
              <a:srgbClr val="CDE7EA"/>
            </a:solidFill>
            <a:prstDash val="solid"/>
          </a:ln>
          <a:effectLst>
            <a:outerShdw sx="100000" sy="100000" kx="0" ky="0" algn="bl" rotWithShape="0" blurRad="88900" dist="25400" dir="5400000">
              <a:srgbClr val="0E3A42">
                <a:alpha val="10000"/>
              </a:srgbClr>
            </a:outerShdw>
          </a:effectLst>
        </p:spPr>
      </p:sp>
      <p:sp>
        <p:nvSpPr>
          <p:cNvPr id="4" name="Text 2"/>
          <p:cNvSpPr/>
          <p:nvPr/>
        </p:nvSpPr>
        <p:spPr>
          <a:xfrm>
            <a:off x="704088" y="1691640"/>
            <a:ext cx="5129784" cy="320040"/>
          </a:xfrm>
          <a:prstGeom prst="rect">
            <a:avLst/>
          </a:prstGeom>
          <a:noFill/>
          <a:ln/>
        </p:spPr>
        <p:txBody>
          <a:bodyPr wrap="square" lIns="0" tIns="0" rIns="0" bIns="0" rtlCol="0" anchor="ctr"/>
          <a:lstStyle/>
          <a:p>
            <a:pPr algn="l" indent="0" marL="0">
              <a:buNone/>
            </a:pPr>
            <a:r>
              <a:rPr lang="en-US" sz="1400" b="1" dirty="0">
                <a:solidFill>
                  <a:srgbClr val="028090"/>
                </a:solidFill>
                <a:latin typeface="Calibri" pitchFamily="34" charset="0"/>
                <a:ea typeface="Calibri" pitchFamily="34" charset="-122"/>
                <a:cs typeface="Calibri" pitchFamily="34" charset="-120"/>
              </a:rPr>
              <a:t>How the loop works</a:t>
            </a:r>
            <a:endParaRPr lang="en-US" sz="1400" dirty="0"/>
          </a:p>
        </p:txBody>
      </p:sp>
      <p:sp>
        <p:nvSpPr>
          <p:cNvPr id="5" name="Text 3"/>
          <p:cNvSpPr/>
          <p:nvPr/>
        </p:nvSpPr>
        <p:spPr>
          <a:xfrm>
            <a:off x="722376" y="2084832"/>
            <a:ext cx="5111496" cy="941832"/>
          </a:xfrm>
          <a:prstGeom prst="rect">
            <a:avLst/>
          </a:prstGeom>
          <a:noFill/>
          <a:ln/>
        </p:spPr>
        <p:txBody>
          <a:bodyPr wrap="square" lIns="0" tIns="0" rIns="0" bIns="0" rtlCol="0" anchor="t"/>
          <a:lstStyle/>
          <a:p>
            <a:pPr algn="l" marL="165100" indent="-165100">
              <a:spcAft>
                <a:spcPts val="500"/>
              </a:spcAft>
              <a:buSzPct val="100000"/>
              <a:buChar char="•"/>
            </a:pPr>
            <a:r>
              <a:rPr lang="en-US" sz="1150" dirty="0">
                <a:solidFill>
                  <a:srgbClr val="0E3A42"/>
                </a:solidFill>
                <a:latin typeface="Calibri" pitchFamily="34" charset="0"/>
                <a:ea typeface="Calibri" pitchFamily="34" charset="-122"/>
                <a:cs typeface="Calibri" pitchFamily="34" charset="-120"/>
              </a:rPr>
              <a:t>Thought → Action (a tool call) → Observation, repeated up to 5 iterations.</a:t>
            </a:r>
            <a:endParaRPr lang="en-US" sz="1150" dirty="0"/>
          </a:p>
          <a:p>
            <a:pPr algn="l" marL="165100" indent="-165100">
              <a:spcAft>
                <a:spcPts val="500"/>
              </a:spcAft>
              <a:buSzPct val="100000"/>
              <a:buChar char="•"/>
            </a:pPr>
            <a:r>
              <a:rPr lang="en-US" sz="1150" dirty="0">
                <a:solidFill>
                  <a:srgbClr val="0E3A42"/>
                </a:solidFill>
                <a:latin typeface="Calibri" pitchFamily="34" charset="0"/>
                <a:ea typeface="Calibri" pitchFamily="34" charset="-122"/>
                <a:cs typeface="Calibri" pitchFamily="34" charset="-120"/>
              </a:rPr>
              <a:t>The model picks the next tool from each observation — routing is not hard-coded.</a:t>
            </a:r>
            <a:endParaRPr lang="en-US" sz="1150" dirty="0"/>
          </a:p>
          <a:p>
            <a:pPr algn="l" marL="165100" indent="-165100">
              <a:spcAft>
                <a:spcPts val="500"/>
              </a:spcAft>
              <a:buSzPct val="100000"/>
              <a:buChar char="•"/>
            </a:pPr>
            <a:r>
              <a:rPr lang="en-US" sz="1150" dirty="0">
                <a:solidFill>
                  <a:srgbClr val="0E3A42"/>
                </a:solidFill>
                <a:latin typeface="Calibri" pitchFamily="34" charset="0"/>
                <a:ea typeface="Calibri" pitchFamily="34" charset="-122"/>
                <a:cs typeface="Calibri" pitchFamily="34" charset="-120"/>
              </a:rPr>
              <a:t>Every step is recorded in a trace for the UI and MLflow.</a:t>
            </a:r>
            <a:endParaRPr lang="en-US" sz="1150" dirty="0"/>
          </a:p>
        </p:txBody>
      </p:sp>
      <p:sp>
        <p:nvSpPr>
          <p:cNvPr id="6" name="Shape 4"/>
          <p:cNvSpPr/>
          <p:nvPr/>
        </p:nvSpPr>
        <p:spPr>
          <a:xfrm>
            <a:off x="502920" y="3291840"/>
            <a:ext cx="5532120" cy="1463040"/>
          </a:xfrm>
          <a:prstGeom prst="roundRect">
            <a:avLst>
              <a:gd name="adj" fmla="val 5625"/>
            </a:avLst>
          </a:prstGeom>
          <a:solidFill>
            <a:srgbClr val="F4FBFC"/>
          </a:solidFill>
          <a:ln w="12700">
            <a:solidFill>
              <a:srgbClr val="CDE7EA"/>
            </a:solidFill>
            <a:prstDash val="solid"/>
          </a:ln>
          <a:effectLst>
            <a:outerShdw sx="100000" sy="100000" kx="0" ky="0" algn="bl" rotWithShape="0" blurRad="88900" dist="25400" dir="5400000">
              <a:srgbClr val="0E3A42">
                <a:alpha val="10000"/>
              </a:srgbClr>
            </a:outerShdw>
          </a:effectLst>
        </p:spPr>
      </p:sp>
      <p:sp>
        <p:nvSpPr>
          <p:cNvPr id="7" name="Text 5"/>
          <p:cNvSpPr/>
          <p:nvPr/>
        </p:nvSpPr>
        <p:spPr>
          <a:xfrm>
            <a:off x="704088" y="3429000"/>
            <a:ext cx="5129784" cy="320040"/>
          </a:xfrm>
          <a:prstGeom prst="rect">
            <a:avLst/>
          </a:prstGeom>
          <a:noFill/>
          <a:ln/>
        </p:spPr>
        <p:txBody>
          <a:bodyPr wrap="square" lIns="0" tIns="0" rIns="0" bIns="0" rtlCol="0" anchor="ctr"/>
          <a:lstStyle/>
          <a:p>
            <a:pPr algn="l" indent="0" marL="0">
              <a:buNone/>
            </a:pPr>
            <a:r>
              <a:rPr lang="en-US" sz="1400" b="1" dirty="0">
                <a:solidFill>
                  <a:srgbClr val="00A896"/>
                </a:solidFill>
                <a:latin typeface="Calibri" pitchFamily="34" charset="0"/>
                <a:ea typeface="Calibri" pitchFamily="34" charset="-122"/>
                <a:cs typeface="Calibri" pitchFamily="34" charset="-120"/>
              </a:rPr>
              <a:t>Three ways it ends</a:t>
            </a:r>
            <a:endParaRPr lang="en-US" sz="1400" dirty="0"/>
          </a:p>
        </p:txBody>
      </p:sp>
      <p:sp>
        <p:nvSpPr>
          <p:cNvPr id="8" name="Text 6"/>
          <p:cNvSpPr/>
          <p:nvPr/>
        </p:nvSpPr>
        <p:spPr>
          <a:xfrm>
            <a:off x="722376" y="3822192"/>
            <a:ext cx="5111496" cy="804672"/>
          </a:xfrm>
          <a:prstGeom prst="rect">
            <a:avLst/>
          </a:prstGeom>
          <a:noFill/>
          <a:ln/>
        </p:spPr>
        <p:txBody>
          <a:bodyPr wrap="square" lIns="0" tIns="0" rIns="0" bIns="0" rtlCol="0" anchor="t"/>
          <a:lstStyle/>
          <a:p>
            <a:pPr algn="l" marL="165100" indent="-165100">
              <a:spcAft>
                <a:spcPts val="500"/>
              </a:spcAft>
              <a:buSzPct val="100000"/>
              <a:buChar char="•"/>
            </a:pPr>
            <a:r>
              <a:rPr lang="en-US" sz="1150" dirty="0">
                <a:solidFill>
                  <a:srgbClr val="0E3A42"/>
                </a:solidFill>
                <a:latin typeface="Calibri" pitchFamily="34" charset="0"/>
                <a:ea typeface="Calibri" pitchFamily="34" charset="-122"/>
                <a:cs typeface="Calibri" pitchFamily="34" charset="-120"/>
              </a:rPr>
              <a:t>Final answer — the model stops calling tools; numbers come from the grounding.</a:t>
            </a:r>
            <a:endParaRPr lang="en-US" sz="1150" dirty="0"/>
          </a:p>
          <a:p>
            <a:pPr algn="l" marL="165100" indent="-165100">
              <a:spcAft>
                <a:spcPts val="500"/>
              </a:spcAft>
              <a:buSzPct val="100000"/>
              <a:buChar char="•"/>
            </a:pPr>
            <a:r>
              <a:rPr lang="en-US" sz="1150" dirty="0">
                <a:solidFill>
                  <a:srgbClr val="0E3A42"/>
                </a:solidFill>
                <a:latin typeface="Calibri" pitchFamily="34" charset="0"/>
                <a:ea typeface="Calibri" pitchFamily="34" charset="-122"/>
                <a:cs typeface="Calibri" pitchFamily="34" charset="-120"/>
              </a:rPr>
              <a:t>Clarify — it calls ask_user and returns a single question.</a:t>
            </a:r>
            <a:endParaRPr lang="en-US" sz="1150" dirty="0"/>
          </a:p>
          <a:p>
            <a:pPr algn="l" marL="165100" indent="-165100">
              <a:spcAft>
                <a:spcPts val="500"/>
              </a:spcAft>
              <a:buSzPct val="100000"/>
              <a:buChar char="•"/>
            </a:pPr>
            <a:r>
              <a:rPr lang="en-US" sz="1150" dirty="0">
                <a:solidFill>
                  <a:srgbClr val="0E3A42"/>
                </a:solidFill>
                <a:latin typeface="Calibri" pitchFamily="34" charset="0"/>
                <a:ea typeface="Calibri" pitchFamily="34" charset="-122"/>
                <a:cs typeface="Calibri" pitchFamily="34" charset="-120"/>
              </a:rPr>
              <a:t>Fallback — the 5-iteration cap returns a graceful “please rephrase”.</a:t>
            </a:r>
            <a:endParaRPr lang="en-US" sz="1150" dirty="0"/>
          </a:p>
        </p:txBody>
      </p:sp>
      <p:sp>
        <p:nvSpPr>
          <p:cNvPr id="9" name="Shape 7"/>
          <p:cNvSpPr/>
          <p:nvPr/>
        </p:nvSpPr>
        <p:spPr>
          <a:xfrm>
            <a:off x="502920" y="4892040"/>
            <a:ext cx="5532120" cy="566928"/>
          </a:xfrm>
          <a:prstGeom prst="roundRect">
            <a:avLst>
              <a:gd name="adj" fmla="val 12903"/>
            </a:avLst>
          </a:prstGeom>
          <a:solidFill>
            <a:srgbClr val="EAF7F8"/>
          </a:solidFill>
          <a:ln w="12700">
            <a:solidFill>
              <a:srgbClr val="CDE7EA"/>
            </a:solidFill>
            <a:prstDash val="solid"/>
          </a:ln>
        </p:spPr>
      </p:sp>
      <p:sp>
        <p:nvSpPr>
          <p:cNvPr id="10" name="Text 8"/>
          <p:cNvSpPr/>
          <p:nvPr/>
        </p:nvSpPr>
        <p:spPr>
          <a:xfrm>
            <a:off x="612648" y="4892040"/>
            <a:ext cx="5312664" cy="566928"/>
          </a:xfrm>
          <a:prstGeom prst="rect">
            <a:avLst/>
          </a:prstGeom>
          <a:noFill/>
          <a:ln/>
        </p:spPr>
        <p:txBody>
          <a:bodyPr wrap="square" lIns="0" tIns="0" rIns="0" bIns="0" rtlCol="0" anchor="ctr"/>
          <a:lstStyle/>
          <a:p>
            <a:pPr algn="l" indent="0" marL="0">
              <a:buNone/>
            </a:pPr>
            <a:r>
              <a:rPr lang="en-US" sz="1050" b="1" dirty="0">
                <a:solidFill>
                  <a:srgbClr val="075E68"/>
                </a:solidFill>
                <a:latin typeface="Calibri" pitchFamily="34" charset="0"/>
                <a:ea typeface="Calibri" pitchFamily="34" charset="-122"/>
                <a:cs typeface="Calibri" pitchFamily="34" charset="-120"/>
              </a:rPr>
              <a:t>Tools: </a:t>
            </a:r>
            <a:pPr algn="l" indent="0" marL="0">
              <a:buNone/>
            </a:pPr>
            <a:r>
              <a:rPr lang="en-US" sz="1050" dirty="0">
                <a:solidFill>
                  <a:srgbClr val="0E3A42"/>
                </a:solidFill>
                <a:latin typeface="Calibri" pitchFamily="34" charset="0"/>
                <a:ea typeface="Calibri" pitchFamily="34" charset="-122"/>
                <a:cs typeface="Calibri" pitchFamily="34" charset="-120"/>
              </a:rPr>
              <a:t>search_catalog · get_covered_cost · get_outpatient_cost · list_hospitals · ask_user</a:t>
            </a:r>
            <a:endParaRPr lang="en-US" sz="1050" dirty="0"/>
          </a:p>
        </p:txBody>
      </p:sp>
      <p:sp>
        <p:nvSpPr>
          <p:cNvPr id="11" name="Shape 9"/>
          <p:cNvSpPr/>
          <p:nvPr/>
        </p:nvSpPr>
        <p:spPr>
          <a:xfrm>
            <a:off x="6309360" y="1554480"/>
            <a:ext cx="5379415" cy="3904488"/>
          </a:xfrm>
          <a:prstGeom prst="roundRect">
            <a:avLst>
              <a:gd name="adj" fmla="val 1405"/>
            </a:avLst>
          </a:prstGeom>
          <a:solidFill>
            <a:srgbClr val="F0F6F7"/>
          </a:solidFill>
          <a:ln w="15875">
            <a:solidFill>
              <a:srgbClr val="028090"/>
            </a:solidFill>
            <a:prstDash val="dash"/>
          </a:ln>
        </p:spPr>
      </p:sp>
      <p:sp>
        <p:nvSpPr>
          <p:cNvPr id="12" name="Text 10"/>
          <p:cNvSpPr/>
          <p:nvPr/>
        </p:nvSpPr>
        <p:spPr>
          <a:xfrm>
            <a:off x="6492240" y="1554480"/>
            <a:ext cx="5013655" cy="3904488"/>
          </a:xfrm>
          <a:prstGeom prst="rect">
            <a:avLst/>
          </a:prstGeom>
          <a:noFill/>
          <a:ln/>
        </p:spPr>
        <p:txBody>
          <a:bodyPr wrap="square" lIns="0" tIns="0" rIns="0" bIns="0" rtlCol="0" anchor="ctr"/>
          <a:lstStyle/>
          <a:p>
            <a:pPr algn="ctr" indent="0" marL="0">
              <a:buNone/>
            </a:pPr>
            <a:r>
              <a:rPr lang="en-US" sz="1200" b="1" dirty="0">
                <a:solidFill>
                  <a:srgbClr val="028090"/>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100" i="1" dirty="0">
                <a:solidFill>
                  <a:srgbClr val="075E68"/>
                </a:solidFill>
                <a:latin typeface="Calibri" pitchFamily="34" charset="0"/>
                <a:ea typeface="Calibri" pitchFamily="34" charset="-122"/>
                <a:cs typeface="Calibri" pitchFamily="34" charset="-120"/>
              </a:rPr>
              <a:t>Reasoning trace: search_catalog → get_covered_cost → grounded answer (Thought / Action / Observation per step)</a:t>
            </a:r>
            <a:endParaRPr lang="en-US" sz="1200" dirty="0"/>
          </a:p>
        </p:txBody>
      </p:sp>
      <p:sp>
        <p:nvSpPr>
          <p:cNvPr id="13" name="Text 11"/>
          <p:cNvSpPr/>
          <p:nvPr/>
        </p:nvSpPr>
        <p:spPr>
          <a:xfrm>
            <a:off x="502920" y="5577840"/>
            <a:ext cx="11185855" cy="548640"/>
          </a:xfrm>
          <a:prstGeom prst="rect">
            <a:avLst/>
          </a:prstGeom>
          <a:noFill/>
          <a:ln/>
        </p:spPr>
        <p:txBody>
          <a:bodyPr wrap="square" lIns="0" tIns="0" rIns="0" bIns="0" rtlCol="0" anchor="t"/>
          <a:lstStyle/>
          <a:p>
            <a:pPr algn="l" indent="0" marL="0">
              <a:buNone/>
            </a:pPr>
            <a:r>
              <a:rPr lang="en-US" sz="1000" b="1" dirty="0">
                <a:solidFill>
                  <a:srgbClr val="028090"/>
                </a:solidFill>
                <a:latin typeface="Calibri" pitchFamily="34" charset="0"/>
                <a:ea typeface="Calibri" pitchFamily="34" charset="-122"/>
                <a:cs typeface="Calibri" pitchFamily="34" charset="-120"/>
              </a:rPr>
              <a:t>Figure 7:</a:t>
            </a:r>
            <a:pPr algn="l" indent="0" marL="0">
              <a:buNone/>
            </a:pPr>
            <a:r>
              <a:rPr lang="en-US" sz="1000" i="1" dirty="0">
                <a:solidFill>
                  <a:srgbClr val="5A7A80"/>
                </a:solidFill>
                <a:latin typeface="Calibri" pitchFamily="34" charset="0"/>
                <a:ea typeface="Calibri" pitchFamily="34" charset="-122"/>
                <a:cs typeface="Calibri" pitchFamily="34" charset="-120"/>
              </a:rPr>
              <a:t>  The ReAct loop lets the model plan and act iteratively — choosing tools and arguments from each observation — while the numbers come from the tool results, not the model's prose.</a:t>
            </a:r>
            <a:endParaRPr lang="en-US" sz="1000" dirty="0"/>
          </a:p>
        </p:txBody>
      </p:sp>
      <p:sp>
        <p:nvSpPr>
          <p:cNvPr id="14" name="Text 12"/>
          <p:cNvSpPr/>
          <p:nvPr/>
        </p:nvSpPr>
        <p:spPr>
          <a:xfrm>
            <a:off x="502920" y="256032"/>
            <a:ext cx="11185855" cy="274320"/>
          </a:xfrm>
          <a:prstGeom prst="rect">
            <a:avLst/>
          </a:prstGeom>
          <a:noFill/>
          <a:ln/>
        </p:spPr>
        <p:txBody>
          <a:bodyPr wrap="square" lIns="0" tIns="0" rIns="0" bIns="0" rtlCol="0" anchor="ctr"/>
          <a:lstStyle/>
          <a:p>
            <a:pPr algn="l" indent="0" marL="0">
              <a:buNone/>
            </a:pPr>
            <a:r>
              <a:rPr lang="en-US" sz="1050" dirty="0">
                <a:solidFill>
                  <a:srgbClr val="5A7A80"/>
                </a:solidFill>
                <a:latin typeface="Calibri" pitchFamily="34" charset="0"/>
                <a:ea typeface="Calibri" pitchFamily="34" charset="-122"/>
                <a:cs typeface="Calibri" pitchFamily="34" charset="-120"/>
              </a:rPr>
              <a:t>Business Use Case</a:t>
            </a:r>
            <a:pPr algn="l" indent="0" marL="0">
              <a:buNone/>
            </a:pPr>
            <a:r>
              <a:rPr lang="en-US" sz="1050" dirty="0">
                <a:solidFill>
                  <a:srgbClr val="9BC7CC"/>
                </a:solidFill>
                <a:latin typeface="Calibri" pitchFamily="34" charset="0"/>
                <a:ea typeface="Calibri" pitchFamily="34" charset="-122"/>
                <a:cs typeface="Calibri" pitchFamily="34" charset="-120"/>
              </a:rPr>
              <a:t>   ›   </a:t>
            </a:r>
            <a:pPr algn="l" indent="0" marL="0">
              <a:buNone/>
            </a:pPr>
            <a:r>
              <a:rPr lang="en-US" sz="1050" b="1" dirty="0">
                <a:solidFill>
                  <a:srgbClr val="028090"/>
                </a:solidFill>
                <a:latin typeface="Calibri" pitchFamily="34" charset="0"/>
                <a:ea typeface="Calibri" pitchFamily="34" charset="-122"/>
                <a:cs typeface="Calibri" pitchFamily="34" charset="-120"/>
              </a:rPr>
              <a:t>Architecture &amp; Methodology</a:t>
            </a:r>
            <a:pPr algn="l" indent="0" marL="0">
              <a:buNone/>
            </a:pPr>
            <a:r>
              <a:rPr lang="en-US" sz="1050" dirty="0">
                <a:solidFill>
                  <a:srgbClr val="9BC7CC"/>
                </a:solidFill>
                <a:latin typeface="Calibri" pitchFamily="34" charset="0"/>
                <a:ea typeface="Calibri" pitchFamily="34" charset="-122"/>
                <a:cs typeface="Calibri" pitchFamily="34" charset="-120"/>
              </a:rPr>
              <a:t>   ›   </a:t>
            </a:r>
            <a:pPr algn="l" indent="0" marL="0">
              <a:buNone/>
            </a:pPr>
            <a:r>
              <a:rPr lang="en-US" sz="1050" dirty="0">
                <a:solidFill>
                  <a:srgbClr val="5A7A80"/>
                </a:solidFill>
                <a:latin typeface="Calibri" pitchFamily="34" charset="0"/>
                <a:ea typeface="Calibri" pitchFamily="34" charset="-122"/>
                <a:cs typeface="Calibri" pitchFamily="34" charset="-120"/>
              </a:rPr>
              <a:t>Live Demo</a:t>
            </a:r>
            <a:pPr algn="l" indent="0" marL="0">
              <a:buNone/>
            </a:pPr>
            <a:r>
              <a:rPr lang="en-US" sz="1050" dirty="0">
                <a:solidFill>
                  <a:srgbClr val="9BC7CC"/>
                </a:solidFill>
                <a:latin typeface="Calibri" pitchFamily="34" charset="0"/>
                <a:ea typeface="Calibri" pitchFamily="34" charset="-122"/>
                <a:cs typeface="Calibri" pitchFamily="34" charset="-120"/>
              </a:rPr>
              <a:t>   ›   </a:t>
            </a:r>
            <a:pPr algn="l" indent="0" marL="0">
              <a:buNone/>
            </a:pPr>
            <a:r>
              <a:rPr lang="en-US" sz="1050" dirty="0">
                <a:solidFill>
                  <a:srgbClr val="5A7A80"/>
                </a:solidFill>
                <a:latin typeface="Calibri" pitchFamily="34" charset="0"/>
                <a:ea typeface="Calibri" pitchFamily="34" charset="-122"/>
                <a:cs typeface="Calibri" pitchFamily="34" charset="-120"/>
              </a:rPr>
              <a:t>Experiment Findings</a:t>
            </a:r>
            <a:pPr algn="l" indent="0" marL="0">
              <a:buNone/>
            </a:pPr>
            <a:r>
              <a:rPr lang="en-US" sz="1050" dirty="0">
                <a:solidFill>
                  <a:srgbClr val="9BC7CC"/>
                </a:solidFill>
                <a:latin typeface="Calibri" pitchFamily="34" charset="0"/>
                <a:ea typeface="Calibri" pitchFamily="34" charset="-122"/>
                <a:cs typeface="Calibri" pitchFamily="34" charset="-120"/>
              </a:rPr>
              <a:t>   ›   </a:t>
            </a:r>
            <a:pPr algn="l" indent="0" marL="0">
              <a:buNone/>
            </a:pPr>
            <a:r>
              <a:rPr lang="en-US" sz="1050" dirty="0">
                <a:solidFill>
                  <a:srgbClr val="5A7A80"/>
                </a:solidFill>
                <a:latin typeface="Calibri" pitchFamily="34" charset="0"/>
                <a:ea typeface="Calibri" pitchFamily="34" charset="-122"/>
                <a:cs typeface="Calibri" pitchFamily="34" charset="-120"/>
              </a:rPr>
              <a:t>Retrospective</a:t>
            </a:r>
            <a:endParaRPr lang="en-US" sz="1050" dirty="0"/>
          </a:p>
        </p:txBody>
      </p:sp>
      <p:sp>
        <p:nvSpPr>
          <p:cNvPr id="15" name="Text 13"/>
          <p:cNvSpPr/>
          <p:nvPr/>
        </p:nvSpPr>
        <p:spPr>
          <a:xfrm>
            <a:off x="502920" y="6437376"/>
            <a:ext cx="10058400" cy="274320"/>
          </a:xfrm>
          <a:prstGeom prst="rect">
            <a:avLst/>
          </a:prstGeom>
          <a:noFill/>
          <a:ln/>
        </p:spPr>
        <p:txBody>
          <a:bodyPr wrap="square" lIns="0" tIns="0" rIns="0" bIns="0" rtlCol="0" anchor="ctr"/>
          <a:lstStyle/>
          <a:p>
            <a:pPr algn="l" indent="0" marL="0">
              <a:buNone/>
            </a:pPr>
            <a:r>
              <a:rPr lang="en-US" sz="850" b="1" dirty="0">
                <a:solidFill>
                  <a:srgbClr val="028090"/>
                </a:solidFill>
                <a:latin typeface="Calibri" pitchFamily="34" charset="0"/>
                <a:ea typeface="Calibri" pitchFamily="34" charset="-122"/>
                <a:cs typeface="Calibri" pitchFamily="34" charset="-120"/>
              </a:rPr>
              <a:t>Dr. Mundo</a:t>
            </a:r>
            <a:pPr algn="l" indent="0" marL="0">
              <a:buNone/>
            </a:pPr>
            <a:r>
              <a:rPr lang="en-US" sz="850" dirty="0">
                <a:solidFill>
                  <a:srgbClr val="5A7A80"/>
                </a:solidFill>
                <a:latin typeface="Calibri" pitchFamily="34" charset="0"/>
                <a:ea typeface="Calibri" pitchFamily="34" charset="-122"/>
                <a:cs typeface="Calibri" pitchFamily="34" charset="-120"/>
              </a:rPr>
              <a:t>   ·   github.com/Dawsxn/DrMundo</a:t>
            </a:r>
            <a:endParaRPr lang="en-US" sz="850" dirty="0"/>
          </a:p>
        </p:txBody>
      </p:sp>
      <p:sp>
        <p:nvSpPr>
          <p:cNvPr id="16" name="Text 14"/>
          <p:cNvSpPr/>
          <p:nvPr/>
        </p:nvSpPr>
        <p:spPr>
          <a:xfrm>
            <a:off x="11140135" y="6437376"/>
            <a:ext cx="548640" cy="274320"/>
          </a:xfrm>
          <a:prstGeom prst="rect">
            <a:avLst/>
          </a:prstGeom>
          <a:noFill/>
          <a:ln/>
        </p:spPr>
        <p:txBody>
          <a:bodyPr wrap="square" lIns="0" tIns="0" rIns="0" bIns="0" rtlCol="0" anchor="ctr"/>
          <a:lstStyle/>
          <a:p>
            <a:pPr algn="r" indent="0" marL="0">
              <a:buNone/>
            </a:pPr>
            <a:r>
              <a:rPr lang="en-US" sz="900" dirty="0">
                <a:solidFill>
                  <a:srgbClr val="5A7A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03504"/>
            <a:ext cx="11185855" cy="603504"/>
          </a:xfrm>
          <a:prstGeom prst="rect">
            <a:avLst/>
          </a:prstGeom>
          <a:noFill/>
          <a:ln/>
        </p:spPr>
        <p:txBody>
          <a:bodyPr wrap="square" lIns="0" tIns="0" rIns="0" bIns="0" rtlCol="0" anchor="ctr"/>
          <a:lstStyle/>
          <a:p>
            <a:pPr algn="l" indent="0" marL="0">
              <a:buNone/>
            </a:pPr>
            <a:r>
              <a:rPr lang="en-US" sz="2600" b="1" dirty="0">
                <a:solidFill>
                  <a:srgbClr val="0E3A42"/>
                </a:solidFill>
                <a:latin typeface="Calibri" pitchFamily="34" charset="0"/>
                <a:ea typeface="Calibri" pitchFamily="34" charset="-122"/>
                <a:cs typeface="Calibri" pitchFamily="34" charset="-120"/>
              </a:rPr>
              <a:t>Structured Outputs: typed, validated, grounded</a:t>
            </a:r>
            <a:endParaRPr lang="en-US" sz="2600" dirty="0"/>
          </a:p>
        </p:txBody>
      </p:sp>
      <p:sp>
        <p:nvSpPr>
          <p:cNvPr id="3" name="Text 1"/>
          <p:cNvSpPr/>
          <p:nvPr/>
        </p:nvSpPr>
        <p:spPr>
          <a:xfrm>
            <a:off x="502920" y="1554480"/>
            <a:ext cx="5532120" cy="32004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Typed at every boundary</a:t>
            </a:r>
            <a:endParaRPr lang="en-US" sz="1400" dirty="0"/>
          </a:p>
        </p:txBody>
      </p:sp>
      <p:sp>
        <p:nvSpPr>
          <p:cNvPr id="4" name="Text 2"/>
          <p:cNvSpPr/>
          <p:nvPr/>
        </p:nvSpPr>
        <p:spPr>
          <a:xfrm>
            <a:off x="548640" y="1920240"/>
            <a:ext cx="5486400" cy="1234440"/>
          </a:xfrm>
          <a:prstGeom prst="rect">
            <a:avLst/>
          </a:prstGeom>
          <a:noFill/>
          <a:ln/>
        </p:spPr>
        <p:txBody>
          <a:bodyPr wrap="square" lIns="0" tIns="0" rIns="0" bIns="0" rtlCol="0" anchor="t"/>
          <a:lstStyle/>
          <a:p>
            <a:pPr marL="165100" indent="-165100">
              <a:spcAft>
                <a:spcPts val="500"/>
              </a:spcAft>
              <a:buSzPct val="100000"/>
              <a:buChar char="•"/>
            </a:pPr>
            <a:r>
              <a:rPr lang="en-US" sz="1150" dirty="0">
                <a:solidFill>
                  <a:srgbClr val="0E3A42"/>
                </a:solidFill>
                <a:latin typeface="Calibri" pitchFamily="34" charset="0"/>
                <a:ea typeface="Calibri" pitchFamily="34" charset="-122"/>
                <a:cs typeface="Calibri" pitchFamily="34" charset="-120"/>
              </a:rPr>
              <a:t>Tool arguments are Pydantic models — validated before dispatch.</a:t>
            </a:r>
            <a:endParaRPr lang="en-US" sz="1150" dirty="0"/>
          </a:p>
          <a:p>
            <a:pPr marL="165100" indent="-165100">
              <a:spcAft>
                <a:spcPts val="500"/>
              </a:spcAft>
              <a:buSzPct val="100000"/>
              <a:buChar char="•"/>
            </a:pPr>
            <a:r>
              <a:rPr lang="en-US" sz="1150" dirty="0">
                <a:solidFill>
                  <a:srgbClr val="0E3A42"/>
                </a:solidFill>
                <a:latin typeface="Calibri" pitchFamily="34" charset="0"/>
                <a:ea typeface="Calibri" pitchFamily="34" charset="-122"/>
                <a:cs typeface="Calibri" pitchFamily="34" charset="-120"/>
              </a:rPr>
              <a:t>Bad args raise a ValidationError → returned as an {error} observation → the model self-corrects (re-prompt).</a:t>
            </a:r>
            <a:endParaRPr lang="en-US" sz="1150" dirty="0"/>
          </a:p>
          <a:p>
            <a:pPr marL="165100" indent="-165100">
              <a:buSzPct val="100000"/>
              <a:buChar char="•"/>
            </a:pPr>
            <a:r>
              <a:rPr lang="en-US" sz="1150" dirty="0">
                <a:solidFill>
                  <a:srgbClr val="0E3A42"/>
                </a:solidFill>
                <a:latin typeface="Calibri" pitchFamily="34" charset="0"/>
                <a:ea typeface="Calibri" pitchFamily="34" charset="-122"/>
                <a:cs typeface="Calibri" pitchFamily="34" charset="-120"/>
              </a:rPr>
              <a:t>The classifier uses JSON mode; FastAPI serializes the typed Answer.</a:t>
            </a:r>
            <a:endParaRPr lang="en-US" sz="1150" dirty="0"/>
          </a:p>
        </p:txBody>
      </p:sp>
      <p:sp>
        <p:nvSpPr>
          <p:cNvPr id="5" name="Shape 3"/>
          <p:cNvSpPr/>
          <p:nvPr/>
        </p:nvSpPr>
        <p:spPr>
          <a:xfrm>
            <a:off x="502920" y="3200400"/>
            <a:ext cx="5532120" cy="2240280"/>
          </a:xfrm>
          <a:prstGeom prst="roundRect">
            <a:avLst>
              <a:gd name="adj" fmla="val 2449"/>
            </a:avLst>
          </a:prstGeom>
          <a:solidFill>
            <a:srgbClr val="07333A"/>
          </a:solidFill>
          <a:ln w="12700">
            <a:solidFill>
              <a:srgbClr val="075E68"/>
            </a:solidFill>
            <a:prstDash val="solid"/>
          </a:ln>
          <a:effectLst>
            <a:outerShdw sx="100000" sy="100000" kx="0" ky="0" algn="bl" rotWithShape="0" blurRad="88900" dist="25400" dir="5400000">
              <a:srgbClr val="0E3A42">
                <a:alpha val="10000"/>
              </a:srgbClr>
            </a:outerShdw>
          </a:effectLst>
        </p:spPr>
      </p:sp>
      <p:sp>
        <p:nvSpPr>
          <p:cNvPr id="6" name="Text 4"/>
          <p:cNvSpPr/>
          <p:nvPr/>
        </p:nvSpPr>
        <p:spPr>
          <a:xfrm>
            <a:off x="704088" y="3346704"/>
            <a:ext cx="5129784" cy="1965960"/>
          </a:xfrm>
          <a:prstGeom prst="rect">
            <a:avLst/>
          </a:prstGeom>
          <a:noFill/>
          <a:ln/>
        </p:spPr>
        <p:txBody>
          <a:bodyPr wrap="square" lIns="0" tIns="0" rIns="0" bIns="0" rtlCol="0" anchor="t"/>
          <a:lstStyle/>
          <a:p>
            <a:pPr algn="l" indent="0" marL="0">
              <a:lnSpc>
                <a:spcPct val="108000"/>
              </a:lnSpc>
              <a:buNone/>
            </a:pPr>
            <a:r>
              <a:rPr lang="en-US" sz="1050" dirty="0">
                <a:solidFill>
                  <a:srgbClr val="6FD0C6"/>
                </a:solidFill>
                <a:latin typeface="Consolas" pitchFamily="34" charset="0"/>
                <a:ea typeface="Consolas" pitchFamily="34" charset="-122"/>
                <a:cs typeface="Consolas" pitchFamily="34" charset="-120"/>
              </a:rPr>
              <a:t># agent/schemas.py — the typed object the API returns</a:t>
            </a:r>
            <a:endParaRPr lang="en-US" sz="1050" dirty="0"/>
          </a:p>
          <a:p>
            <a:pPr algn="l" indent="0" marL="0">
              <a:lnSpc>
                <a:spcPct val="108000"/>
              </a:lnSpc>
              <a:buNone/>
            </a:pPr>
            <a:r>
              <a:rPr lang="en-US" sz="1050" dirty="0">
                <a:solidFill>
                  <a:srgbClr val="E6F7F8"/>
                </a:solidFill>
                <a:latin typeface="Consolas" pitchFamily="34" charset="0"/>
                <a:ea typeface="Consolas" pitchFamily="34" charset="-122"/>
                <a:cs typeface="Consolas" pitchFamily="34" charset="-120"/>
              </a:rPr>
              <a:t>class Answer(BaseModel):</a:t>
            </a:r>
            <a:endParaRPr lang="en-US" sz="1050" dirty="0"/>
          </a:p>
          <a:p>
            <a:pPr algn="l" indent="0" marL="0">
              <a:lnSpc>
                <a:spcPct val="108000"/>
              </a:lnSpc>
              <a:buNone/>
            </a:pPr>
            <a:r>
              <a:rPr lang="en-US" sz="1050" dirty="0">
                <a:solidFill>
                  <a:srgbClr val="FFD27D"/>
                </a:solidFill>
                <a:latin typeface="Consolas" pitchFamily="34" charset="0"/>
                <a:ea typeface="Consolas" pitchFamily="34" charset="-122"/>
                <a:cs typeface="Consolas" pitchFamily="34" charset="-120"/>
              </a:rPr>
              <a:t>    status: Literal["answered","needs_clarification",</a:t>
            </a:r>
            <a:endParaRPr lang="en-US" sz="1050" dirty="0"/>
          </a:p>
          <a:p>
            <a:pPr algn="l" indent="0" marL="0">
              <a:lnSpc>
                <a:spcPct val="108000"/>
              </a:lnSpc>
              <a:buNone/>
            </a:pPr>
            <a:r>
              <a:rPr lang="en-US" sz="1050" dirty="0">
                <a:solidFill>
                  <a:srgbClr val="FFD27D"/>
                </a:solidFill>
                <a:latin typeface="Consolas" pitchFamily="34" charset="0"/>
                <a:ea typeface="Consolas" pitchFamily="34" charset="-122"/>
                <a:cs typeface="Consolas" pitchFamily="34" charset="-120"/>
              </a:rPr>
              <a:t>                    "out_of_scope","no_data"]</a:t>
            </a:r>
            <a:endParaRPr lang="en-US" sz="1050" dirty="0"/>
          </a:p>
          <a:p>
            <a:pPr algn="l" indent="0" marL="0">
              <a:lnSpc>
                <a:spcPct val="108000"/>
              </a:lnSpc>
              <a:buNone/>
            </a:pPr>
            <a:r>
              <a:rPr lang="en-US" sz="1050" dirty="0">
                <a:solidFill>
                  <a:srgbClr val="E6F7F8"/>
                </a:solidFill>
                <a:latin typeface="Consolas" pitchFamily="34" charset="0"/>
                <a:ea typeface="Consolas" pitchFamily="34" charset="-122"/>
                <a:cs typeface="Consolas" pitchFamily="34" charset="-120"/>
              </a:rPr>
              <a:t>    path: Optional[Literal["covered","outpatient"]]</a:t>
            </a:r>
            <a:endParaRPr lang="en-US" sz="1050" dirty="0"/>
          </a:p>
          <a:p>
            <a:pPr algn="l" indent="0" marL="0">
              <a:lnSpc>
                <a:spcPct val="108000"/>
              </a:lnSpc>
              <a:buNone/>
            </a:pPr>
            <a:r>
              <a:rPr lang="en-US" sz="1050" dirty="0">
                <a:solidFill>
                  <a:srgbClr val="E6F7F8"/>
                </a:solidFill>
                <a:latin typeface="Consolas" pitchFamily="34" charset="0"/>
                <a:ea typeface="Consolas" pitchFamily="34" charset="-122"/>
                <a:cs typeface="Consolas" pitchFamily="34" charset="-120"/>
              </a:rPr>
              <a:t>    case_rate: Optional[float]</a:t>
            </a:r>
            <a:endParaRPr lang="en-US" sz="1050" dirty="0"/>
          </a:p>
          <a:p>
            <a:pPr algn="l" indent="0" marL="0">
              <a:lnSpc>
                <a:spcPct val="108000"/>
              </a:lnSpc>
              <a:buNone/>
            </a:pPr>
            <a:r>
              <a:rPr lang="en-US" sz="1050" dirty="0">
                <a:solidFill>
                  <a:srgbClr val="E6F7F8"/>
                </a:solidFill>
                <a:latin typeface="Consolas" pitchFamily="34" charset="0"/>
                <a:ea typeface="Consolas" pitchFamily="34" charset="-122"/>
                <a:cs typeface="Consolas" pitchFamily="34" charset="-120"/>
              </a:rPr>
              <a:t>    price_low: Optional[float]; price_high: Optional[float]</a:t>
            </a:r>
            <a:endParaRPr lang="en-US" sz="1050" dirty="0"/>
          </a:p>
          <a:p>
            <a:pPr algn="l" indent="0" marL="0">
              <a:lnSpc>
                <a:spcPct val="108000"/>
              </a:lnSpc>
              <a:buNone/>
            </a:pPr>
            <a:r>
              <a:rPr lang="en-US" sz="1050" dirty="0">
                <a:solidFill>
                  <a:srgbClr val="E6F7F8"/>
                </a:solidFill>
                <a:latin typeface="Consolas" pitchFamily="34" charset="0"/>
                <a:ea typeface="Consolas" pitchFamily="34" charset="-122"/>
                <a:cs typeface="Consolas" pitchFamily="34" charset="-120"/>
              </a:rPr>
              <a:t>    oop_low: Optional[float]; oop_high: Optional[float]</a:t>
            </a:r>
            <a:endParaRPr lang="en-US" sz="1050" dirty="0"/>
          </a:p>
          <a:p>
            <a:pPr algn="l" indent="0" marL="0">
              <a:lnSpc>
                <a:spcPct val="108000"/>
              </a:lnSpc>
              <a:buNone/>
            </a:pPr>
            <a:r>
              <a:rPr lang="en-US" sz="1050" dirty="0">
                <a:solidFill>
                  <a:srgbClr val="E6F7F8"/>
                </a:solidFill>
                <a:latin typeface="Consolas" pitchFamily="34" charset="0"/>
                <a:ea typeface="Consolas" pitchFamily="34" charset="-122"/>
                <a:cs typeface="Consolas" pitchFamily="34" charset="-120"/>
              </a:rPr>
              <a:t>    hospitals: Optional[list[HospitalBreakdown]]</a:t>
            </a:r>
            <a:endParaRPr lang="en-US" sz="1050" dirty="0"/>
          </a:p>
          <a:p>
            <a:pPr algn="l" indent="0" marL="0">
              <a:lnSpc>
                <a:spcPct val="108000"/>
              </a:lnSpc>
              <a:buNone/>
            </a:pPr>
            <a:r>
              <a:rPr lang="en-US" sz="1050" dirty="0">
                <a:solidFill>
                  <a:srgbClr val="E6F7F8"/>
                </a:solidFill>
                <a:latin typeface="Consolas" pitchFamily="34" charset="0"/>
                <a:ea typeface="Consolas" pitchFamily="34" charset="-122"/>
                <a:cs typeface="Consolas" pitchFamily="34" charset="-120"/>
              </a:rPr>
              <a:t>    answer_text: str   # the only model-written field</a:t>
            </a:r>
            <a:endParaRPr lang="en-US" sz="1050" dirty="0"/>
          </a:p>
        </p:txBody>
      </p:sp>
      <p:sp>
        <p:nvSpPr>
          <p:cNvPr id="7" name="Shape 5"/>
          <p:cNvSpPr/>
          <p:nvPr/>
        </p:nvSpPr>
        <p:spPr>
          <a:xfrm>
            <a:off x="6309360" y="1554480"/>
            <a:ext cx="5379415" cy="3904488"/>
          </a:xfrm>
          <a:prstGeom prst="roundRect">
            <a:avLst>
              <a:gd name="adj" fmla="val 1405"/>
            </a:avLst>
          </a:prstGeom>
          <a:solidFill>
            <a:srgbClr val="F0F6F7"/>
          </a:solidFill>
          <a:ln w="15875">
            <a:solidFill>
              <a:srgbClr val="028090"/>
            </a:solidFill>
            <a:prstDash val="dash"/>
          </a:ln>
        </p:spPr>
      </p:sp>
      <p:sp>
        <p:nvSpPr>
          <p:cNvPr id="8" name="Text 6"/>
          <p:cNvSpPr/>
          <p:nvPr/>
        </p:nvSpPr>
        <p:spPr>
          <a:xfrm>
            <a:off x="6492240" y="1554480"/>
            <a:ext cx="5013655" cy="3904488"/>
          </a:xfrm>
          <a:prstGeom prst="rect">
            <a:avLst/>
          </a:prstGeom>
          <a:noFill/>
          <a:ln/>
        </p:spPr>
        <p:txBody>
          <a:bodyPr wrap="square" lIns="0" tIns="0" rIns="0" bIns="0" rtlCol="0" anchor="ctr"/>
          <a:lstStyle/>
          <a:p>
            <a:pPr algn="ctr" indent="0" marL="0">
              <a:buNone/>
            </a:pPr>
            <a:r>
              <a:rPr lang="en-US" sz="1200" b="1" dirty="0">
                <a:solidFill>
                  <a:srgbClr val="028090"/>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100" i="1" dirty="0">
                <a:solidFill>
                  <a:srgbClr val="075E68"/>
                </a:solidFill>
                <a:latin typeface="Calibri" pitchFamily="34" charset="0"/>
                <a:ea typeface="Calibri" pitchFamily="34" charset="-122"/>
                <a:cs typeface="Calibri" pitchFamily="34" charset="-120"/>
              </a:rPr>
              <a:t>Breakdown panel: the typed Answer rendered in the UI — price range, PhilHealth case rate, out-of-pocket, and the per-hospital table</a:t>
            </a:r>
            <a:endParaRPr lang="en-US" sz="1200" dirty="0"/>
          </a:p>
        </p:txBody>
      </p:sp>
      <p:sp>
        <p:nvSpPr>
          <p:cNvPr id="9" name="Text 7"/>
          <p:cNvSpPr/>
          <p:nvPr/>
        </p:nvSpPr>
        <p:spPr>
          <a:xfrm>
            <a:off x="502920" y="5577840"/>
            <a:ext cx="11185855" cy="548640"/>
          </a:xfrm>
          <a:prstGeom prst="rect">
            <a:avLst/>
          </a:prstGeom>
          <a:noFill/>
          <a:ln/>
        </p:spPr>
        <p:txBody>
          <a:bodyPr wrap="square" lIns="0" tIns="0" rIns="0" bIns="0" rtlCol="0" anchor="t"/>
          <a:lstStyle/>
          <a:p>
            <a:pPr algn="l" indent="0" marL="0">
              <a:buNone/>
            </a:pPr>
            <a:r>
              <a:rPr lang="en-US" sz="1000" b="1" dirty="0">
                <a:solidFill>
                  <a:srgbClr val="028090"/>
                </a:solidFill>
                <a:latin typeface="Calibri" pitchFamily="34" charset="0"/>
                <a:ea typeface="Calibri" pitchFamily="34" charset="-122"/>
                <a:cs typeface="Calibri" pitchFamily="34" charset="-120"/>
              </a:rPr>
              <a:t>Figure 8:</a:t>
            </a:r>
            <a:pPr algn="l" indent="0" marL="0">
              <a:buNone/>
            </a:pPr>
            <a:r>
              <a:rPr lang="en-US" sz="1000" i="1" dirty="0">
                <a:solidFill>
                  <a:srgbClr val="5A7A80"/>
                </a:solidFill>
                <a:latin typeface="Calibri" pitchFamily="34" charset="0"/>
                <a:ea typeface="Calibri" pitchFamily="34" charset="-122"/>
                <a:cs typeface="Calibri" pitchFamily="34" charset="-120"/>
              </a:rPr>
              <a:t>  Every boundary is typed — the LLM's tool calls are Pydantic-validated with automatic re-prompting on bad arguments, and the final Answer is a typed object whose numbers come from retrieved rows, so downstream code branches on status/path and never parses prose.</a:t>
            </a:r>
            <a:endParaRPr lang="en-US" sz="1000" dirty="0"/>
          </a:p>
        </p:txBody>
      </p:sp>
      <p:sp>
        <p:nvSpPr>
          <p:cNvPr id="10" name="Text 8"/>
          <p:cNvSpPr/>
          <p:nvPr/>
        </p:nvSpPr>
        <p:spPr>
          <a:xfrm>
            <a:off x="502920" y="256032"/>
            <a:ext cx="11185855" cy="274320"/>
          </a:xfrm>
          <a:prstGeom prst="rect">
            <a:avLst/>
          </a:prstGeom>
          <a:noFill/>
          <a:ln/>
        </p:spPr>
        <p:txBody>
          <a:bodyPr wrap="square" lIns="0" tIns="0" rIns="0" bIns="0" rtlCol="0" anchor="ctr"/>
          <a:lstStyle/>
          <a:p>
            <a:pPr algn="l" indent="0" marL="0">
              <a:buNone/>
            </a:pPr>
            <a:r>
              <a:rPr lang="en-US" sz="1050" dirty="0">
                <a:solidFill>
                  <a:srgbClr val="5A7A80"/>
                </a:solidFill>
                <a:latin typeface="Calibri" pitchFamily="34" charset="0"/>
                <a:ea typeface="Calibri" pitchFamily="34" charset="-122"/>
                <a:cs typeface="Calibri" pitchFamily="34" charset="-120"/>
              </a:rPr>
              <a:t>Business Use Case</a:t>
            </a:r>
            <a:pPr algn="l" indent="0" marL="0">
              <a:buNone/>
            </a:pPr>
            <a:r>
              <a:rPr lang="en-US" sz="1050" dirty="0">
                <a:solidFill>
                  <a:srgbClr val="9BC7CC"/>
                </a:solidFill>
                <a:latin typeface="Calibri" pitchFamily="34" charset="0"/>
                <a:ea typeface="Calibri" pitchFamily="34" charset="-122"/>
                <a:cs typeface="Calibri" pitchFamily="34" charset="-120"/>
              </a:rPr>
              <a:t>   ›   </a:t>
            </a:r>
            <a:pPr algn="l" indent="0" marL="0">
              <a:buNone/>
            </a:pPr>
            <a:r>
              <a:rPr lang="en-US" sz="1050" b="1" dirty="0">
                <a:solidFill>
                  <a:srgbClr val="028090"/>
                </a:solidFill>
                <a:latin typeface="Calibri" pitchFamily="34" charset="0"/>
                <a:ea typeface="Calibri" pitchFamily="34" charset="-122"/>
                <a:cs typeface="Calibri" pitchFamily="34" charset="-120"/>
              </a:rPr>
              <a:t>Architecture &amp; Methodology</a:t>
            </a:r>
            <a:pPr algn="l" indent="0" marL="0">
              <a:buNone/>
            </a:pPr>
            <a:r>
              <a:rPr lang="en-US" sz="1050" dirty="0">
                <a:solidFill>
                  <a:srgbClr val="9BC7CC"/>
                </a:solidFill>
                <a:latin typeface="Calibri" pitchFamily="34" charset="0"/>
                <a:ea typeface="Calibri" pitchFamily="34" charset="-122"/>
                <a:cs typeface="Calibri" pitchFamily="34" charset="-120"/>
              </a:rPr>
              <a:t>   ›   </a:t>
            </a:r>
            <a:pPr algn="l" indent="0" marL="0">
              <a:buNone/>
            </a:pPr>
            <a:r>
              <a:rPr lang="en-US" sz="1050" dirty="0">
                <a:solidFill>
                  <a:srgbClr val="5A7A80"/>
                </a:solidFill>
                <a:latin typeface="Calibri" pitchFamily="34" charset="0"/>
                <a:ea typeface="Calibri" pitchFamily="34" charset="-122"/>
                <a:cs typeface="Calibri" pitchFamily="34" charset="-120"/>
              </a:rPr>
              <a:t>Live Demo</a:t>
            </a:r>
            <a:pPr algn="l" indent="0" marL="0">
              <a:buNone/>
            </a:pPr>
            <a:r>
              <a:rPr lang="en-US" sz="1050" dirty="0">
                <a:solidFill>
                  <a:srgbClr val="9BC7CC"/>
                </a:solidFill>
                <a:latin typeface="Calibri" pitchFamily="34" charset="0"/>
                <a:ea typeface="Calibri" pitchFamily="34" charset="-122"/>
                <a:cs typeface="Calibri" pitchFamily="34" charset="-120"/>
              </a:rPr>
              <a:t>   ›   </a:t>
            </a:r>
            <a:pPr algn="l" indent="0" marL="0">
              <a:buNone/>
            </a:pPr>
            <a:r>
              <a:rPr lang="en-US" sz="1050" dirty="0">
                <a:solidFill>
                  <a:srgbClr val="5A7A80"/>
                </a:solidFill>
                <a:latin typeface="Calibri" pitchFamily="34" charset="0"/>
                <a:ea typeface="Calibri" pitchFamily="34" charset="-122"/>
                <a:cs typeface="Calibri" pitchFamily="34" charset="-120"/>
              </a:rPr>
              <a:t>Experiment Findings</a:t>
            </a:r>
            <a:pPr algn="l" indent="0" marL="0">
              <a:buNone/>
            </a:pPr>
            <a:r>
              <a:rPr lang="en-US" sz="1050" dirty="0">
                <a:solidFill>
                  <a:srgbClr val="9BC7CC"/>
                </a:solidFill>
                <a:latin typeface="Calibri" pitchFamily="34" charset="0"/>
                <a:ea typeface="Calibri" pitchFamily="34" charset="-122"/>
                <a:cs typeface="Calibri" pitchFamily="34" charset="-120"/>
              </a:rPr>
              <a:t>   ›   </a:t>
            </a:r>
            <a:pPr algn="l" indent="0" marL="0">
              <a:buNone/>
            </a:pPr>
            <a:r>
              <a:rPr lang="en-US" sz="1050" dirty="0">
                <a:solidFill>
                  <a:srgbClr val="5A7A80"/>
                </a:solidFill>
                <a:latin typeface="Calibri" pitchFamily="34" charset="0"/>
                <a:ea typeface="Calibri" pitchFamily="34" charset="-122"/>
                <a:cs typeface="Calibri" pitchFamily="34" charset="-120"/>
              </a:rPr>
              <a:t>Retrospective</a:t>
            </a:r>
            <a:endParaRPr lang="en-US" sz="1050" dirty="0"/>
          </a:p>
        </p:txBody>
      </p:sp>
      <p:sp>
        <p:nvSpPr>
          <p:cNvPr id="11" name="Text 9"/>
          <p:cNvSpPr/>
          <p:nvPr/>
        </p:nvSpPr>
        <p:spPr>
          <a:xfrm>
            <a:off x="502920" y="6437376"/>
            <a:ext cx="10058400" cy="274320"/>
          </a:xfrm>
          <a:prstGeom prst="rect">
            <a:avLst/>
          </a:prstGeom>
          <a:noFill/>
          <a:ln/>
        </p:spPr>
        <p:txBody>
          <a:bodyPr wrap="square" lIns="0" tIns="0" rIns="0" bIns="0" rtlCol="0" anchor="ctr"/>
          <a:lstStyle/>
          <a:p>
            <a:pPr algn="l" indent="0" marL="0">
              <a:buNone/>
            </a:pPr>
            <a:r>
              <a:rPr lang="en-US" sz="850" b="1" dirty="0">
                <a:solidFill>
                  <a:srgbClr val="028090"/>
                </a:solidFill>
                <a:latin typeface="Calibri" pitchFamily="34" charset="0"/>
                <a:ea typeface="Calibri" pitchFamily="34" charset="-122"/>
                <a:cs typeface="Calibri" pitchFamily="34" charset="-120"/>
              </a:rPr>
              <a:t>Dr. Mundo</a:t>
            </a:r>
            <a:pPr algn="l" indent="0" marL="0">
              <a:buNone/>
            </a:pPr>
            <a:r>
              <a:rPr lang="en-US" sz="850" dirty="0">
                <a:solidFill>
                  <a:srgbClr val="5A7A80"/>
                </a:solidFill>
                <a:latin typeface="Calibri" pitchFamily="34" charset="0"/>
                <a:ea typeface="Calibri" pitchFamily="34" charset="-122"/>
                <a:cs typeface="Calibri" pitchFamily="34" charset="-120"/>
              </a:rPr>
              <a:t>   ·   github.com/Dawsxn/DrMundo</a:t>
            </a:r>
            <a:endParaRPr lang="en-US" sz="850" dirty="0"/>
          </a:p>
        </p:txBody>
      </p:sp>
      <p:sp>
        <p:nvSpPr>
          <p:cNvPr id="12" name="Text 10"/>
          <p:cNvSpPr/>
          <p:nvPr/>
        </p:nvSpPr>
        <p:spPr>
          <a:xfrm>
            <a:off x="11140135" y="6437376"/>
            <a:ext cx="548640" cy="274320"/>
          </a:xfrm>
          <a:prstGeom prst="rect">
            <a:avLst/>
          </a:prstGeom>
          <a:noFill/>
          <a:ln/>
        </p:spPr>
        <p:txBody>
          <a:bodyPr wrap="square" lIns="0" tIns="0" rIns="0" bIns="0" rtlCol="0" anchor="ctr"/>
          <a:lstStyle/>
          <a:p>
            <a:pPr algn="r" indent="0" marL="0">
              <a:buNone/>
            </a:pPr>
            <a:r>
              <a:rPr lang="en-US" sz="900" dirty="0">
                <a:solidFill>
                  <a:srgbClr val="5A7A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03504"/>
            <a:ext cx="11185855" cy="603504"/>
          </a:xfrm>
          <a:prstGeom prst="rect">
            <a:avLst/>
          </a:prstGeom>
          <a:noFill/>
          <a:ln/>
        </p:spPr>
        <p:txBody>
          <a:bodyPr wrap="square" lIns="0" tIns="0" rIns="0" bIns="0" rtlCol="0" anchor="ctr"/>
          <a:lstStyle/>
          <a:p>
            <a:pPr algn="l" indent="0" marL="0">
              <a:buNone/>
            </a:pPr>
            <a:r>
              <a:rPr lang="en-US" sz="2600" b="1" dirty="0">
                <a:solidFill>
                  <a:srgbClr val="0E3A42"/>
                </a:solidFill>
                <a:latin typeface="Calibri" pitchFamily="34" charset="0"/>
                <a:ea typeface="Calibri" pitchFamily="34" charset="-122"/>
                <a:cs typeface="Calibri" pitchFamily="34" charset="-120"/>
              </a:rPr>
              <a:t>Prompt Engineering: a measured ablation</a:t>
            </a:r>
            <a:endParaRPr lang="en-US" sz="2600" dirty="0"/>
          </a:p>
        </p:txBody>
      </p:sp>
      <p:sp>
        <p:nvSpPr>
          <p:cNvPr id="3" name="Shape 1"/>
          <p:cNvSpPr/>
          <p:nvPr/>
        </p:nvSpPr>
        <p:spPr>
          <a:xfrm>
            <a:off x="502920" y="1554480"/>
            <a:ext cx="5029200" cy="1783080"/>
          </a:xfrm>
          <a:prstGeom prst="roundRect">
            <a:avLst>
              <a:gd name="adj" fmla="val 4615"/>
            </a:avLst>
          </a:prstGeom>
          <a:solidFill>
            <a:srgbClr val="F4FBFC"/>
          </a:solidFill>
          <a:ln w="12700">
            <a:solidFill>
              <a:srgbClr val="CDE7EA"/>
            </a:solidFill>
            <a:prstDash val="solid"/>
          </a:ln>
          <a:effectLst>
            <a:outerShdw sx="100000" sy="100000" kx="0" ky="0" algn="bl" rotWithShape="0" blurRad="88900" dist="25400" dir="5400000">
              <a:srgbClr val="0E3A42">
                <a:alpha val="10000"/>
              </a:srgbClr>
            </a:outerShdw>
          </a:effectLst>
        </p:spPr>
      </p:sp>
      <p:sp>
        <p:nvSpPr>
          <p:cNvPr id="4" name="Text 2"/>
          <p:cNvSpPr/>
          <p:nvPr/>
        </p:nvSpPr>
        <p:spPr>
          <a:xfrm>
            <a:off x="704088" y="1691640"/>
            <a:ext cx="4626864" cy="320040"/>
          </a:xfrm>
          <a:prstGeom prst="rect">
            <a:avLst/>
          </a:prstGeom>
          <a:noFill/>
          <a:ln/>
        </p:spPr>
        <p:txBody>
          <a:bodyPr wrap="square" lIns="0" tIns="0" rIns="0" bIns="0" rtlCol="0" anchor="ctr"/>
          <a:lstStyle/>
          <a:p>
            <a:pPr algn="l" indent="0" marL="0">
              <a:buNone/>
            </a:pPr>
            <a:r>
              <a:rPr lang="en-US" sz="1400" b="1" dirty="0">
                <a:solidFill>
                  <a:srgbClr val="028090"/>
                </a:solidFill>
                <a:latin typeface="Calibri" pitchFamily="34" charset="0"/>
                <a:ea typeface="Calibri" pitchFamily="34" charset="-122"/>
                <a:cs typeface="Calibri" pitchFamily="34" charset="-120"/>
              </a:rPr>
              <a:t>How we tested</a:t>
            </a:r>
            <a:endParaRPr lang="en-US" sz="1400" dirty="0"/>
          </a:p>
        </p:txBody>
      </p:sp>
      <p:sp>
        <p:nvSpPr>
          <p:cNvPr id="5" name="Text 3"/>
          <p:cNvSpPr/>
          <p:nvPr/>
        </p:nvSpPr>
        <p:spPr>
          <a:xfrm>
            <a:off x="722376" y="2084832"/>
            <a:ext cx="4608576" cy="1124712"/>
          </a:xfrm>
          <a:prstGeom prst="rect">
            <a:avLst/>
          </a:prstGeom>
          <a:noFill/>
          <a:ln/>
        </p:spPr>
        <p:txBody>
          <a:bodyPr wrap="square" lIns="0" tIns="0" rIns="0" bIns="0" rtlCol="0" anchor="t"/>
          <a:lstStyle/>
          <a:p>
            <a:pPr algn="l" marL="165100" indent="-165100">
              <a:spcAft>
                <a:spcPts val="500"/>
              </a:spcAft>
              <a:buSzPct val="100000"/>
              <a:buChar char="•"/>
            </a:pPr>
            <a:r>
              <a:rPr lang="en-US" sz="1150" dirty="0">
                <a:solidFill>
                  <a:srgbClr val="0E3A42"/>
                </a:solidFill>
                <a:latin typeface="Calibri" pitchFamily="34" charset="0"/>
                <a:ea typeface="Calibri" pitchFamily="34" charset="-122"/>
                <a:cs typeface="Calibri" pitchFamily="34" charset="-120"/>
              </a:rPr>
              <a:t>35 database-grounded cases across 4 buckets: covered, outpatient, ambiguous, out-of-scope.</a:t>
            </a:r>
            <a:endParaRPr lang="en-US" sz="1150" dirty="0"/>
          </a:p>
          <a:p>
            <a:pPr algn="l" marL="165100" indent="-165100">
              <a:spcAft>
                <a:spcPts val="500"/>
              </a:spcAft>
              <a:buSzPct val="100000"/>
              <a:buChar char="•"/>
            </a:pPr>
            <a:r>
              <a:rPr lang="en-US" sz="1150" dirty="0">
                <a:solidFill>
                  <a:srgbClr val="0E3A42"/>
                </a:solidFill>
                <a:latin typeface="Calibri" pitchFamily="34" charset="0"/>
                <a:ea typeface="Calibri" pitchFamily="34" charset="-122"/>
                <a:cs typeface="Calibri" pitchFamily="34" charset="-120"/>
              </a:rPr>
              <a:t>Driven through the service (not HTTP) — a plain, repeatable script.</a:t>
            </a:r>
            <a:endParaRPr lang="en-US" sz="1150" dirty="0"/>
          </a:p>
          <a:p>
            <a:pPr algn="l" marL="165100" indent="-165100">
              <a:spcAft>
                <a:spcPts val="500"/>
              </a:spcAft>
              <a:buSzPct val="100000"/>
              <a:buChar char="•"/>
            </a:pPr>
            <a:r>
              <a:rPr lang="en-US" sz="1150" dirty="0">
                <a:solidFill>
                  <a:srgbClr val="0E3A42"/>
                </a:solidFill>
                <a:latin typeface="Calibri" pitchFamily="34" charset="0"/>
                <a:ea typeface="Calibri" pitchFamily="34" charset="-122"/>
                <a:cs typeface="Calibri" pitchFamily="34" charset="-120"/>
              </a:rPr>
              <a:t>Plus 44 offline unit tests (no network).</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760720" y="1554480"/>
          <a:ext cx="5928055" cy="914400"/>
        </p:xfrm>
        <a:graphic>
          <a:graphicData uri="http://schemas.openxmlformats.org/drawingml/2006/table">
            <a:tbl>
              <a:tblPr/>
              <a:tblGrid>
                <a:gridCol w="1554480"/>
                <a:gridCol w="777240"/>
                <a:gridCol w="777240"/>
                <a:gridCol w="987552"/>
                <a:gridCol w="841248"/>
                <a:gridCol w="990295"/>
              </a:tblGrid>
              <a:tr h="420624">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Prompt</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02809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Pass</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02809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Route</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02809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Cov/OOP</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02809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Clarify</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028090"/>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Cost</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028090"/>
                    </a:solidFill>
                  </a:tcPr>
                </a:tc>
              </a:tr>
              <a:tr h="457200">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system_v1</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91%</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93%</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$0.022</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r>
              <a:tr h="457200">
                <a:tc>
                  <a:txBody>
                    <a:bodyPr/>
                    <a:lstStyle/>
                    <a:p>
                      <a:pPr algn="ctr" indent="0" marL="0">
                        <a:buNone/>
                      </a:pPr>
                      <a:r>
                        <a:rPr lang="en-US" sz="1150" b="1" dirty="0">
                          <a:solidFill>
                            <a:srgbClr val="0E3A42"/>
                          </a:solidFill>
                          <a:latin typeface="Calibri" pitchFamily="34" charset="0"/>
                          <a:ea typeface="Calibri" pitchFamily="34" charset="-122"/>
                          <a:cs typeface="Calibri" pitchFamily="34" charset="-120"/>
                        </a:rPr>
                        <a:t>system_v2</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b="1" dirty="0">
                          <a:solidFill>
                            <a:srgbClr val="0E3A42"/>
                          </a:solidFill>
                          <a:latin typeface="Calibri" pitchFamily="34" charset="0"/>
                          <a:ea typeface="Calibri" pitchFamily="34" charset="-122"/>
                          <a:cs typeface="Calibri" pitchFamily="34" charset="-120"/>
                        </a:rPr>
                        <a:t>94%</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$0.021</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r>
              <a:tr h="457200">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system_v3</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94%</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92%</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ctr" indent="0" marL="0">
                        <a:buNone/>
                      </a:pPr>
                      <a:r>
                        <a:rPr lang="en-US" sz="1150" dirty="0">
                          <a:solidFill>
                            <a:srgbClr val="0E3A42"/>
                          </a:solidFill>
                          <a:latin typeface="Calibri" pitchFamily="34" charset="0"/>
                          <a:ea typeface="Calibri" pitchFamily="34" charset="-122"/>
                          <a:cs typeface="Calibri" pitchFamily="34" charset="-120"/>
                        </a:rPr>
                        <a:t>$0.020</a:t>
                      </a:r>
                      <a:endParaRPr lang="en-US" sz="1150" dirty="0">
                        <a:latin typeface="Calibri" charset="0"/>
                        <a:ea typeface="Calibri" charset="0"/>
                        <a:cs typeface="Calibri" charset="0"/>
                      </a:endParaRPr>
                    </a:p>
                  </a:txBody>
                  <a:tcPr marL="50800" marR="508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r>
            </a:tbl>
          </a:graphicData>
        </a:graphic>
      </p:graphicFrame>
      <p:sp>
        <p:nvSpPr>
          <p:cNvPr id="7" name="Text 4"/>
          <p:cNvSpPr/>
          <p:nvPr/>
        </p:nvSpPr>
        <p:spPr>
          <a:xfrm>
            <a:off x="5760720" y="3429000"/>
            <a:ext cx="5928055" cy="548640"/>
          </a:xfrm>
          <a:prstGeom prst="rect">
            <a:avLst/>
          </a:prstGeom>
          <a:noFill/>
          <a:ln/>
        </p:spPr>
        <p:txBody>
          <a:bodyPr wrap="square" lIns="0" tIns="0" rIns="0" bIns="0" rtlCol="0" anchor="t"/>
          <a:lstStyle/>
          <a:p>
            <a:pPr algn="l" indent="0" marL="0">
              <a:buNone/>
            </a:pPr>
            <a:r>
              <a:rPr lang="en-US" sz="1000" b="1" dirty="0">
                <a:solidFill>
                  <a:srgbClr val="028090"/>
                </a:solidFill>
                <a:latin typeface="Calibri" pitchFamily="34" charset="0"/>
                <a:ea typeface="Calibri" pitchFamily="34" charset="-122"/>
                <a:cs typeface="Calibri" pitchFamily="34" charset="-120"/>
              </a:rPr>
              <a:t>Table 5 — Prompt ablation:</a:t>
            </a:r>
            <a:pPr algn="l" indent="0" marL="0">
              <a:buNone/>
            </a:pPr>
            <a:r>
              <a:rPr lang="en-US" sz="1000" i="1" dirty="0">
                <a:solidFill>
                  <a:srgbClr val="5A7A80"/>
                </a:solidFill>
                <a:latin typeface="Calibri" pitchFamily="34" charset="0"/>
                <a:ea typeface="Calibri" pitchFamily="34" charset="-122"/>
                <a:cs typeface="Calibri" pitchFamily="34" charset="-120"/>
              </a:rPr>
              <a:t>  v2 is best-balanced — top routing and coverage/OOP at the lowest cost; v3 over-clarifies clear queries (routing drops to 92%).</a:t>
            </a:r>
            <a:endParaRPr lang="en-US" sz="1000" dirty="0"/>
          </a:p>
        </p:txBody>
      </p:sp>
      <p:sp>
        <p:nvSpPr>
          <p:cNvPr id="8" name="Text 5"/>
          <p:cNvSpPr/>
          <p:nvPr/>
        </p:nvSpPr>
        <p:spPr>
          <a:xfrm>
            <a:off x="502920" y="4069080"/>
            <a:ext cx="11185855"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Table 4 — Sample test cases</a:t>
            </a:r>
            <a:pPr indent="0" marL="0">
              <a:buNone/>
            </a:pPr>
            <a:r>
              <a:rPr lang="en-US" sz="1250" i="1" dirty="0">
                <a:solidFill>
                  <a:srgbClr val="5A7A80"/>
                </a:solidFill>
                <a:latin typeface="Calibri" pitchFamily="34" charset="0"/>
                <a:ea typeface="Calibri" pitchFamily="34" charset="-122"/>
                <a:cs typeface="Calibri" pitchFamily="34" charset="-120"/>
              </a:rPr>
              <a:t>  (one per bucket; ground truth from the DB)</a:t>
            </a:r>
            <a:endParaRPr lang="en-US" sz="125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502920" y="4434840"/>
          <a:ext cx="11185855" cy="914400"/>
        </p:xfrm>
        <a:graphic>
          <a:graphicData uri="http://schemas.openxmlformats.org/drawingml/2006/table">
            <a:tbl>
              <a:tblPr/>
              <a:tblGrid>
                <a:gridCol w="1508760"/>
                <a:gridCol w="5212080"/>
                <a:gridCol w="4465015"/>
              </a:tblGrid>
              <a:tr h="36576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Bucket</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Example query</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028090"/>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Expected outcome</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028090"/>
                    </a:solidFill>
                  </a:tcPr>
                </a:tc>
              </a:tr>
              <a:tr h="365760">
                <a:tc>
                  <a:txBody>
                    <a:bodyPr/>
                    <a:lstStyle/>
                    <a:p>
                      <a:pPr algn="l" indent="0" marL="0">
                        <a:buNone/>
                      </a:pPr>
                      <a:r>
                        <a:rPr lang="en-US" sz="1150" dirty="0">
                          <a:solidFill>
                            <a:srgbClr val="0E3A42"/>
                          </a:solidFill>
                          <a:latin typeface="Calibri" pitchFamily="34" charset="0"/>
                          <a:ea typeface="Calibri" pitchFamily="34" charset="-122"/>
                          <a:cs typeface="Calibri" pitchFamily="34" charset="-120"/>
                        </a:rPr>
                        <a:t>Covered</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l" indent="0" marL="0">
                        <a:buNone/>
                      </a:pPr>
                      <a:r>
                        <a:rPr lang="en-US" sz="1150" dirty="0">
                          <a:solidFill>
                            <a:srgbClr val="0E3A42"/>
                          </a:solidFill>
                          <a:latin typeface="Calibri" pitchFamily="34" charset="0"/>
                          <a:ea typeface="Calibri" pitchFamily="34" charset="-122"/>
                          <a:cs typeface="Calibri" pitchFamily="34" charset="-120"/>
                        </a:rPr>
                        <a:t>“Magkano ang appendectomy sa Chong Hua?”</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l" indent="0" marL="0">
                        <a:buNone/>
                      </a:pPr>
                      <a:r>
                        <a:rPr lang="en-US" sz="1150" dirty="0">
                          <a:solidFill>
                            <a:srgbClr val="0E3A42"/>
                          </a:solidFill>
                          <a:latin typeface="Calibri" pitchFamily="34" charset="0"/>
                          <a:ea typeface="Calibri" pitchFamily="34" charset="-122"/>
                          <a:cs typeface="Calibri" pitchFamily="34" charset="-120"/>
                        </a:rPr>
                        <a:t>Path A — case rate ₱46,800</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r>
              <a:tr h="365760">
                <a:tc>
                  <a:txBody>
                    <a:bodyPr/>
                    <a:lstStyle/>
                    <a:p>
                      <a:pPr algn="l" indent="0" marL="0">
                        <a:buNone/>
                      </a:pPr>
                      <a:r>
                        <a:rPr lang="en-US" sz="1150" dirty="0">
                          <a:solidFill>
                            <a:srgbClr val="0E3A42"/>
                          </a:solidFill>
                          <a:latin typeface="Calibri" pitchFamily="34" charset="0"/>
                          <a:ea typeface="Calibri" pitchFamily="34" charset="-122"/>
                          <a:cs typeface="Calibri" pitchFamily="34" charset="-120"/>
                        </a:rPr>
                        <a:t>Outpatient</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l" indent="0" marL="0">
                        <a:buNone/>
                      </a:pPr>
                      <a:r>
                        <a:rPr lang="en-US" sz="1150" dirty="0">
                          <a:solidFill>
                            <a:srgbClr val="0E3A42"/>
                          </a:solidFill>
                          <a:latin typeface="Calibri" pitchFamily="34" charset="0"/>
                          <a:ea typeface="Calibri" pitchFamily="34" charset="-122"/>
                          <a:cs typeface="Calibri" pitchFamily="34" charset="-120"/>
                        </a:rPr>
                        <a:t>“How much is a CT scan with contrast?”</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l" indent="0" marL="0">
                        <a:buNone/>
                      </a:pPr>
                      <a:r>
                        <a:rPr lang="en-US" sz="1150" dirty="0">
                          <a:solidFill>
                            <a:srgbClr val="0E3A42"/>
                          </a:solidFill>
                          <a:latin typeface="Calibri" pitchFamily="34" charset="0"/>
                          <a:ea typeface="Calibri" pitchFamily="34" charset="-122"/>
                          <a:cs typeface="Calibri" pitchFamily="34" charset="-120"/>
                        </a:rPr>
                        <a:t>Path B — not covered by PhilHealth</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r>
              <a:tr h="365760">
                <a:tc>
                  <a:txBody>
                    <a:bodyPr/>
                    <a:lstStyle/>
                    <a:p>
                      <a:pPr algn="l" indent="0" marL="0">
                        <a:buNone/>
                      </a:pPr>
                      <a:r>
                        <a:rPr lang="en-US" sz="1150" dirty="0">
                          <a:solidFill>
                            <a:srgbClr val="0E3A42"/>
                          </a:solidFill>
                          <a:latin typeface="Calibri" pitchFamily="34" charset="0"/>
                          <a:ea typeface="Calibri" pitchFamily="34" charset="-122"/>
                          <a:cs typeface="Calibri" pitchFamily="34" charset="-120"/>
                        </a:rPr>
                        <a:t>Ambiguous</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l" indent="0" marL="0">
                        <a:buNone/>
                      </a:pPr>
                      <a:r>
                        <a:rPr lang="en-US" sz="1150" dirty="0">
                          <a:solidFill>
                            <a:srgbClr val="0E3A42"/>
                          </a:solidFill>
                          <a:latin typeface="Calibri" pitchFamily="34" charset="0"/>
                          <a:ea typeface="Calibri" pitchFamily="34" charset="-122"/>
                          <a:cs typeface="Calibri" pitchFamily="34" charset="-120"/>
                        </a:rPr>
                        <a:t>“How much is a scan?”</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l" indent="0" marL="0">
                        <a:buNone/>
                      </a:pPr>
                      <a:r>
                        <a:rPr lang="en-US" sz="1150" dirty="0">
                          <a:solidFill>
                            <a:srgbClr val="0E3A42"/>
                          </a:solidFill>
                          <a:latin typeface="Calibri" pitchFamily="34" charset="0"/>
                          <a:ea typeface="Calibri" pitchFamily="34" charset="-122"/>
                          <a:cs typeface="Calibri" pitchFamily="34" charset="-120"/>
                        </a:rPr>
                        <a:t>Ask a clarifying question</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r>
              <a:tr h="365760">
                <a:tc>
                  <a:txBody>
                    <a:bodyPr/>
                    <a:lstStyle/>
                    <a:p>
                      <a:pPr algn="l" indent="0" marL="0">
                        <a:buNone/>
                      </a:pPr>
                      <a:r>
                        <a:rPr lang="en-US" sz="1150" dirty="0">
                          <a:solidFill>
                            <a:srgbClr val="0E3A42"/>
                          </a:solidFill>
                          <a:latin typeface="Calibri" pitchFamily="34" charset="0"/>
                          <a:ea typeface="Calibri" pitchFamily="34" charset="-122"/>
                          <a:cs typeface="Calibri" pitchFamily="34" charset="-120"/>
                        </a:rPr>
                        <a:t>Out-of-scope</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l" indent="0" marL="0">
                        <a:buNone/>
                      </a:pPr>
                      <a:r>
                        <a:rPr lang="en-US" sz="1150" dirty="0">
                          <a:solidFill>
                            <a:srgbClr val="0E3A42"/>
                          </a:solidFill>
                          <a:latin typeface="Calibri" pitchFamily="34" charset="0"/>
                          <a:ea typeface="Calibri" pitchFamily="34" charset="-122"/>
                          <a:cs typeface="Calibri" pitchFamily="34" charset="-120"/>
                        </a:rPr>
                        <a:t>“Is surgery dangerous?”</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c>
                  <a:txBody>
                    <a:bodyPr/>
                    <a:lstStyle/>
                    <a:p>
                      <a:pPr algn="l" indent="0" marL="0">
                        <a:buNone/>
                      </a:pPr>
                      <a:r>
                        <a:rPr lang="en-US" sz="1150" dirty="0">
                          <a:solidFill>
                            <a:srgbClr val="0E3A42"/>
                          </a:solidFill>
                          <a:latin typeface="Calibri" pitchFamily="34" charset="0"/>
                          <a:ea typeface="Calibri" pitchFamily="34" charset="-122"/>
                          <a:cs typeface="Calibri" pitchFamily="34" charset="-120"/>
                        </a:rPr>
                        <a:t>Refuse (medical advice) + disclaimer</a:t>
                      </a:r>
                      <a:endParaRPr lang="en-US" sz="1150" dirty="0">
                        <a:latin typeface="Calibri" charset="0"/>
                        <a:ea typeface="Calibri" charset="0"/>
                        <a:cs typeface="Calibri" charset="0"/>
                      </a:endParaRPr>
                    </a:p>
                  </a:txBody>
                  <a:tcPr marL="88900" marR="88900" marT="38100" marB="38100" anchor="ctr">
                    <a:lnL w="12700" cap="flat" cmpd="sng" algn="ctr">
                      <a:solidFill>
                        <a:srgbClr val="CDE7EA"/>
                      </a:solidFill>
                      <a:prstDash val="solid"/>
                      <a:round/>
                      <a:headEnd type="none" w="med" len="med"/>
                      <a:tailEnd type="none" w="med" len="med"/>
                    </a:lnL>
                    <a:lnR w="12700" cap="flat" cmpd="sng" algn="ctr">
                      <a:solidFill>
                        <a:srgbClr val="CDE7EA"/>
                      </a:solidFill>
                      <a:prstDash val="solid"/>
                      <a:round/>
                      <a:headEnd type="none" w="med" len="med"/>
                      <a:tailEnd type="none" w="med" len="med"/>
                    </a:lnR>
                    <a:lnT w="12700" cap="flat" cmpd="sng" algn="ctr">
                      <a:solidFill>
                        <a:srgbClr val="CDE7EA"/>
                      </a:solidFill>
                      <a:prstDash val="solid"/>
                      <a:round/>
                      <a:headEnd type="none" w="med" len="med"/>
                      <a:tailEnd type="none" w="med" len="med"/>
                    </a:lnT>
                    <a:lnB w="12700" cap="flat" cmpd="sng" algn="ctr">
                      <a:solidFill>
                        <a:srgbClr val="CDE7EA"/>
                      </a:solidFill>
                      <a:prstDash val="solid"/>
                      <a:round/>
                      <a:headEnd type="none" w="med" len="med"/>
                      <a:tailEnd type="none" w="med" len="med"/>
                    </a:lnB>
                    <a:solidFill>
                      <a:srgbClr val="F4FBFC"/>
                    </a:solidFill>
                  </a:tcPr>
                </a:tc>
              </a:tr>
            </a:tbl>
          </a:graphicData>
        </a:graphic>
      </p:graphicFrame>
      <p:sp>
        <p:nvSpPr>
          <p:cNvPr id="10" name="Text 6"/>
          <p:cNvSpPr/>
          <p:nvPr/>
        </p:nvSpPr>
        <p:spPr>
          <a:xfrm>
            <a:off x="502920" y="256032"/>
            <a:ext cx="11185855" cy="274320"/>
          </a:xfrm>
          <a:prstGeom prst="rect">
            <a:avLst/>
          </a:prstGeom>
          <a:noFill/>
          <a:ln/>
        </p:spPr>
        <p:txBody>
          <a:bodyPr wrap="square" lIns="0" tIns="0" rIns="0" bIns="0" rtlCol="0" anchor="ctr"/>
          <a:lstStyle/>
          <a:p>
            <a:pPr algn="l" indent="0" marL="0">
              <a:buNone/>
            </a:pPr>
            <a:r>
              <a:rPr lang="en-US" sz="1050" dirty="0">
                <a:solidFill>
                  <a:srgbClr val="5A7A80"/>
                </a:solidFill>
                <a:latin typeface="Calibri" pitchFamily="34" charset="0"/>
                <a:ea typeface="Calibri" pitchFamily="34" charset="-122"/>
                <a:cs typeface="Calibri" pitchFamily="34" charset="-120"/>
              </a:rPr>
              <a:t>Business Use Case</a:t>
            </a:r>
            <a:pPr algn="l" indent="0" marL="0">
              <a:buNone/>
            </a:pPr>
            <a:r>
              <a:rPr lang="en-US" sz="1050" dirty="0">
                <a:solidFill>
                  <a:srgbClr val="9BC7CC"/>
                </a:solidFill>
                <a:latin typeface="Calibri" pitchFamily="34" charset="0"/>
                <a:ea typeface="Calibri" pitchFamily="34" charset="-122"/>
                <a:cs typeface="Calibri" pitchFamily="34" charset="-120"/>
              </a:rPr>
              <a:t>   ›   </a:t>
            </a:r>
            <a:pPr algn="l" indent="0" marL="0">
              <a:buNone/>
            </a:pPr>
            <a:r>
              <a:rPr lang="en-US" sz="1050" dirty="0">
                <a:solidFill>
                  <a:srgbClr val="5A7A80"/>
                </a:solidFill>
                <a:latin typeface="Calibri" pitchFamily="34" charset="0"/>
                <a:ea typeface="Calibri" pitchFamily="34" charset="-122"/>
                <a:cs typeface="Calibri" pitchFamily="34" charset="-120"/>
              </a:rPr>
              <a:t>Architecture &amp; Methodology</a:t>
            </a:r>
            <a:pPr algn="l" indent="0" marL="0">
              <a:buNone/>
            </a:pPr>
            <a:r>
              <a:rPr lang="en-US" sz="1050" dirty="0">
                <a:solidFill>
                  <a:srgbClr val="9BC7CC"/>
                </a:solidFill>
                <a:latin typeface="Calibri" pitchFamily="34" charset="0"/>
                <a:ea typeface="Calibri" pitchFamily="34" charset="-122"/>
                <a:cs typeface="Calibri" pitchFamily="34" charset="-120"/>
              </a:rPr>
              <a:t>   ›   </a:t>
            </a:r>
            <a:pPr algn="l" indent="0" marL="0">
              <a:buNone/>
            </a:pPr>
            <a:r>
              <a:rPr lang="en-US" sz="1050" dirty="0">
                <a:solidFill>
                  <a:srgbClr val="5A7A80"/>
                </a:solidFill>
                <a:latin typeface="Calibri" pitchFamily="34" charset="0"/>
                <a:ea typeface="Calibri" pitchFamily="34" charset="-122"/>
                <a:cs typeface="Calibri" pitchFamily="34" charset="-120"/>
              </a:rPr>
              <a:t>Live Demo</a:t>
            </a:r>
            <a:pPr algn="l" indent="0" marL="0">
              <a:buNone/>
            </a:pPr>
            <a:r>
              <a:rPr lang="en-US" sz="1050" dirty="0">
                <a:solidFill>
                  <a:srgbClr val="9BC7CC"/>
                </a:solidFill>
                <a:latin typeface="Calibri" pitchFamily="34" charset="0"/>
                <a:ea typeface="Calibri" pitchFamily="34" charset="-122"/>
                <a:cs typeface="Calibri" pitchFamily="34" charset="-120"/>
              </a:rPr>
              <a:t>   ›   </a:t>
            </a:r>
            <a:pPr algn="l" indent="0" marL="0">
              <a:buNone/>
            </a:pPr>
            <a:r>
              <a:rPr lang="en-US" sz="1050" b="1" dirty="0">
                <a:solidFill>
                  <a:srgbClr val="028090"/>
                </a:solidFill>
                <a:latin typeface="Calibri" pitchFamily="34" charset="0"/>
                <a:ea typeface="Calibri" pitchFamily="34" charset="-122"/>
                <a:cs typeface="Calibri" pitchFamily="34" charset="-120"/>
              </a:rPr>
              <a:t>Experiment Findings</a:t>
            </a:r>
            <a:pPr algn="l" indent="0" marL="0">
              <a:buNone/>
            </a:pPr>
            <a:r>
              <a:rPr lang="en-US" sz="1050" dirty="0">
                <a:solidFill>
                  <a:srgbClr val="9BC7CC"/>
                </a:solidFill>
                <a:latin typeface="Calibri" pitchFamily="34" charset="0"/>
                <a:ea typeface="Calibri" pitchFamily="34" charset="-122"/>
                <a:cs typeface="Calibri" pitchFamily="34" charset="-120"/>
              </a:rPr>
              <a:t>   ›   </a:t>
            </a:r>
            <a:pPr algn="l" indent="0" marL="0">
              <a:buNone/>
            </a:pPr>
            <a:r>
              <a:rPr lang="en-US" sz="1050" dirty="0">
                <a:solidFill>
                  <a:srgbClr val="5A7A80"/>
                </a:solidFill>
                <a:latin typeface="Calibri" pitchFamily="34" charset="0"/>
                <a:ea typeface="Calibri" pitchFamily="34" charset="-122"/>
                <a:cs typeface="Calibri" pitchFamily="34" charset="-120"/>
              </a:rPr>
              <a:t>Retrospective</a:t>
            </a:r>
            <a:endParaRPr lang="en-US" sz="1050" dirty="0"/>
          </a:p>
        </p:txBody>
      </p:sp>
      <p:sp>
        <p:nvSpPr>
          <p:cNvPr id="11" name="Text 7"/>
          <p:cNvSpPr/>
          <p:nvPr/>
        </p:nvSpPr>
        <p:spPr>
          <a:xfrm>
            <a:off x="502920" y="6437376"/>
            <a:ext cx="10058400" cy="274320"/>
          </a:xfrm>
          <a:prstGeom prst="rect">
            <a:avLst/>
          </a:prstGeom>
          <a:noFill/>
          <a:ln/>
        </p:spPr>
        <p:txBody>
          <a:bodyPr wrap="square" lIns="0" tIns="0" rIns="0" bIns="0" rtlCol="0" anchor="ctr"/>
          <a:lstStyle/>
          <a:p>
            <a:pPr algn="l" indent="0" marL="0">
              <a:buNone/>
            </a:pPr>
            <a:r>
              <a:rPr lang="en-US" sz="850" b="1" dirty="0">
                <a:solidFill>
                  <a:srgbClr val="028090"/>
                </a:solidFill>
                <a:latin typeface="Calibri" pitchFamily="34" charset="0"/>
                <a:ea typeface="Calibri" pitchFamily="34" charset="-122"/>
                <a:cs typeface="Calibri" pitchFamily="34" charset="-120"/>
              </a:rPr>
              <a:t>Dr. Mundo</a:t>
            </a:r>
            <a:pPr algn="l" indent="0" marL="0">
              <a:buNone/>
            </a:pPr>
            <a:r>
              <a:rPr lang="en-US" sz="850" dirty="0">
                <a:solidFill>
                  <a:srgbClr val="5A7A80"/>
                </a:solidFill>
                <a:latin typeface="Calibri" pitchFamily="34" charset="0"/>
                <a:ea typeface="Calibri" pitchFamily="34" charset="-122"/>
                <a:cs typeface="Calibri" pitchFamily="34" charset="-120"/>
              </a:rPr>
              <a:t>   ·   github.com/Dawsxn/DrMundo</a:t>
            </a:r>
            <a:endParaRPr lang="en-US" sz="850" dirty="0"/>
          </a:p>
        </p:txBody>
      </p:sp>
      <p:sp>
        <p:nvSpPr>
          <p:cNvPr id="12" name="Text 8"/>
          <p:cNvSpPr/>
          <p:nvPr/>
        </p:nvSpPr>
        <p:spPr>
          <a:xfrm>
            <a:off x="11140135" y="6437376"/>
            <a:ext cx="548640" cy="274320"/>
          </a:xfrm>
          <a:prstGeom prst="rect">
            <a:avLst/>
          </a:prstGeom>
          <a:noFill/>
          <a:ln/>
        </p:spPr>
        <p:txBody>
          <a:bodyPr wrap="square" lIns="0" tIns="0" rIns="0" bIns="0" rtlCol="0" anchor="ctr"/>
          <a:lstStyle/>
          <a:p>
            <a:pPr algn="r" indent="0" marL="0">
              <a:buNone/>
            </a:pPr>
            <a:r>
              <a:rPr lang="en-US" sz="900" dirty="0">
                <a:solidFill>
                  <a:srgbClr val="5A7A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Mundo — added slides</dc:title>
  <dc:subject>PptxGenJS Presentation</dc:subject>
  <dc:creator>PptxGenJS</dc:creator>
  <cp:lastModifiedBy>PptxGenJS</cp:lastModifiedBy>
  <cp:revision>1</cp:revision>
  <dcterms:created xsi:type="dcterms:W3CDTF">2026-07-08T16:01:20Z</dcterms:created>
  <dcterms:modified xsi:type="dcterms:W3CDTF">2026-07-08T16:01:20Z</dcterms:modified>
</cp:coreProperties>
</file>